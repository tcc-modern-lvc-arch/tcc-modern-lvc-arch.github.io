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4" r:id="rId5"/>
    <p:sldId id="282" r:id="rId27"/>
  </p:sldIdLst>
  <p:sldSz cx="18288000" cy="10287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DDF5-E4D2-4720-2694-A5E9E80B4F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A9884-1FB9-495F-F513-BD8937AC9F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DABA-AA1A-9FC3-766D-350EA08691C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6314B0-18E7-44AB-8179-6C4AB1789184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5E168-A4A0-5FE1-9F9D-02CFC97971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24023-96B2-BC39-85F8-4F38E9FB2C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53777D-405D-421E-BE69-6F51F1ED922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5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7564-02AC-92F3-C650-D1AF2FFEEBA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EAF4-750E-9B19-988A-A627EF6C34C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EE116-501C-DD29-F377-D2B74DBCD95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C4A702-D330-46E9-A3D8-0FCA99D8214A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F3A11-32AE-74E0-C8FB-3153682784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B2BB-6287-3805-7AB9-03652AFE14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4A630-47F4-4C5E-B1F8-E804FAC9B612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2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D63-F6F0-4F59-A7CA-AC0A7E385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B1DAD-9D57-3C21-CFE2-0DA4B235E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ADA05-FE7D-315B-2399-36CCD2B638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DF11A1-8D2C-4E52-BA83-2BBBB403BDB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8C6F-6465-07A7-F7BB-C5B6882B0C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16B05-0AE0-050D-1FFC-D4518C7F01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B8033C-6285-4A73-81A1-66F6D880988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3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6F9B-D973-C5E0-768C-D3E76E7C5C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EBFB-3586-39AC-5756-F733E99806D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66C6-E37D-ADB6-1322-A5745D7633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3B543-5B34-B55B-9964-8DBA1A4336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F7FAE7-A9EF-4AA2-B412-5005374EAB9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456FC-7EAA-E430-46B9-0EE73DF09A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DA116-FC13-2EE2-3CDC-1206DF9F04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461C9A-1FD7-4B3B-9802-0865682B827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D528-CFF9-D8E6-5B6A-D7841B6B8AA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127C2-6425-788D-95BB-F5635B55F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FFE24-5C83-E9D6-C531-9FB4E77728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8F16E-FA3D-B02C-43DA-D0F18DED9F5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E2677-297A-952A-2F62-9B937235245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3FB8F-7B8A-98A5-ABF2-99795C123A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F0876D-183A-4479-8FFC-F4837029F182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70D3A-D903-55A2-59BF-C836E0440C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7F61C-3303-680A-3165-9235EC2529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D0AB26-5348-40F4-A192-FBB77D2FE23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41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A404-4915-5D11-1E0C-2B1FEB161C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20AC3-D39C-3012-4BF0-80436BBE56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C9FF86-3286-4AAB-BA4E-5FB0D23F18E3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7FEE2-4E14-CFE9-F22A-2E7EF2FBA2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24670-4012-669B-0E8E-4518BA4CD9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022355-318A-49D2-85C0-6E5F664E8A6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6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2D0EF-59AE-4D22-0CA6-63C3455F41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47F31D-82CE-4D95-A7C9-F380E80FF88B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1015F-6C50-F27D-D5E8-15662F9AA2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BFE06-C6CB-F090-982A-B98825CFD6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D274CF-2263-4348-A43F-41762A7C0C8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350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DF63-0264-217C-5B3C-549537519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EB5DE-B51B-29D2-2314-98E3E67A463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36D6C-0299-9F3B-1F8E-F60A2DCDDD9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99A3-8669-79FE-E790-D0266E9A2F7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F5CDB6-D020-437E-844C-59AE87F5993C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0E8B1-484C-8BCE-F3EA-352DD64643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F0941-9076-C77D-990B-997FD8F2DB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CA9BF1-8A5A-4B8C-88BA-2199A9D6F2D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77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D0B5-6409-E277-E1B7-5CAE0458B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8B765-A391-CD84-FCDC-E29E19278E1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723C7-F9EE-4652-764A-E56E8CEF406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906B-1528-2C87-1153-BC469B2984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5B27B4-1686-4040-A8B8-AA0C6D70C1C6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2DB20-FDC9-F7A4-83FF-3D9685ED44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C01D-87F2-9A16-3729-9206170ED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ACDD1F-6B46-4729-886E-EE891C62A1BF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8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D9F-1D7F-32E9-0ECE-0BCB096B71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BC22-B0AC-15A3-E923-2BB6415FDAA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001D-3999-EB60-1F90-C3E6FB15B6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ABFEF3-09E9-45E6-8BF1-EFA01AA468B0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43B3-EBB7-5CF7-0E92-358A5E0219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C130-5002-C255-7F57-318F223A44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76D32E-683C-4896-83FF-AA455D9166B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DDC5E-7092-939B-69F0-AE6DF48CB751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CBF94-87E5-A8B0-B73B-176B6DAEB5A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40"/>
            <a:ext cx="6019796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7F1D-19DB-88FC-3C5D-0C6BF5235C4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284B8E-E556-46EC-82D6-9A7D0552A664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632BE-019E-B23F-E9CC-CC1AA86945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D30D-3389-CEB9-A0CE-FDEBF4432B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011534-462E-46D2-A3A7-DB38C66A8226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109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C60C7-D566-54CC-C7BA-7161B2658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E93A4-113A-25F2-81EF-22241A5ED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FB8D-6E18-BCA7-3468-05F0BF2E31C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B650D63-A38C-40C3-9F2A-CAE47D5BA03D}" type="datetime1">
              <a:rPr lang="en-US"/>
              <a:pPr lvl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2C287-8155-3221-BE26-9BF38C7C532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D299A-D992-75A6-4FB9-2529737394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438F494-6660-4B12-B216-38D7175034C9}" type="slidenum"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image" Target="../media/image17.svg"/><Relationship Id="rId10" Type="http://schemas.openxmlformats.org/officeDocument/2006/relationships/image" Target="../media/image14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microsoft.com/office/2007/relationships/media" Target="../media/media1.mp4"/><Relationship Id="rId9" Type="http://schemas.openxmlformats.org/officeDocument/2006/relationships/video" Target="../media/media1.mp4"/><Relationship Id="rId10" Type="http://schemas.openxmlformats.org/officeDocument/2006/relationships/image" Target="../media/image2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microsoft.com/office/2007/relationships/media" Target="../media/media2.mp4"/><Relationship Id="rId9" Type="http://schemas.openxmlformats.org/officeDocument/2006/relationships/video" Target="../media/media2.mp4"/><Relationship Id="rId10" Type="http://schemas.openxmlformats.org/officeDocument/2006/relationships/image" Target="../media/image2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83081D-1962-396C-4610-4152272DB2F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99F52C1-2433-87B9-B25A-EE38D5EBAB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E486A2-4AAF-6C99-F881-EBF11605EDA6}"/>
              </a:ext>
            </a:extLst>
          </p:cNvPr>
          <p:cNvSpPr/>
          <p:nvPr/>
        </p:nvSpPr>
        <p:spPr>
          <a:xfrm>
            <a:off x="0" y="0"/>
            <a:ext cx="4138912" cy="3214682"/>
          </a:xfrm>
          <a:custGeom>
            <a:avLst/>
            <a:gdLst>
              <a:gd name="f0" fmla="val w"/>
              <a:gd name="f1" fmla="val h"/>
              <a:gd name="f2" fmla="val 0"/>
              <a:gd name="f3" fmla="val 4138910"/>
              <a:gd name="f4" fmla="val 3214687"/>
              <a:gd name="f5" fmla="*/ f0 1 4138910"/>
              <a:gd name="f6" fmla="*/ f1 1 321468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138910"/>
              <a:gd name="f13" fmla="*/ f10 1 321468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138910" h="321468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2211780-1C22-C98D-B8AD-D45959769D25}"/>
              </a:ext>
            </a:extLst>
          </p:cNvPr>
          <p:cNvGrpSpPr/>
          <p:nvPr/>
        </p:nvGrpSpPr>
        <p:grpSpPr>
          <a:xfrm>
            <a:off x="0" y="4286249"/>
            <a:ext cx="2616400" cy="6000750"/>
            <a:chOff x="0" y="4286249"/>
            <a:chExt cx="2616400" cy="60007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6E4D62-CD74-7B8B-FE35-92D58F91EF9F}"/>
                </a:ext>
              </a:extLst>
            </p:cNvPr>
            <p:cNvSpPr/>
            <p:nvPr/>
          </p:nvSpPr>
          <p:spPr>
            <a:xfrm>
              <a:off x="0" y="4286249"/>
              <a:ext cx="2616400" cy="600074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488531"/>
                <a:gd name="f4" fmla="val 8001000"/>
                <a:gd name="f5" fmla="*/ f0 1 3488531"/>
                <a:gd name="f6" fmla="*/ f1 1 8001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488531"/>
                <a:gd name="f13" fmla="*/ f10 1 8001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488531" h="8001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6B549EB-141C-A585-176B-A3938EBA3C73}"/>
                </a:ext>
              </a:extLst>
            </p:cNvPr>
            <p:cNvSpPr/>
            <p:nvPr/>
          </p:nvSpPr>
          <p:spPr>
            <a:xfrm>
              <a:off x="0" y="8139412"/>
              <a:ext cx="1308195" cy="214758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744266"/>
                <a:gd name="f4" fmla="val 2863453"/>
                <a:gd name="f5" fmla="*/ f0 1 1744266"/>
                <a:gd name="f6" fmla="*/ f1 1 286345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744266"/>
                <a:gd name="f13" fmla="*/ f10 1 286345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744266" h="286345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AF2473-8F0B-5C17-2EFD-2400D76CB18B}"/>
              </a:ext>
            </a:extLst>
          </p:cNvPr>
          <p:cNvGrpSpPr/>
          <p:nvPr/>
        </p:nvGrpSpPr>
        <p:grpSpPr>
          <a:xfrm>
            <a:off x="8540944" y="0"/>
            <a:ext cx="11080734" cy="10287009"/>
            <a:chOff x="8540944" y="0"/>
            <a:chExt cx="11080734" cy="1028700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A55D688-58B5-CFF5-6420-6A128D73D7CA}"/>
                </a:ext>
              </a:extLst>
            </p:cNvPr>
            <p:cNvSpPr/>
            <p:nvPr/>
          </p:nvSpPr>
          <p:spPr>
            <a:xfrm>
              <a:off x="8540944" y="0"/>
              <a:ext cx="9395286" cy="10287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527043"/>
                <a:gd name="f4" fmla="val 13716000"/>
                <a:gd name="f5" fmla="*/ f0 1 12527043"/>
                <a:gd name="f6" fmla="*/ f1 1 13716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527043"/>
                <a:gd name="f13" fmla="*/ f10 1 13716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527043" h="13716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F245B9-EF32-57B2-3E3C-F16F9C37017C}"/>
                </a:ext>
              </a:extLst>
            </p:cNvPr>
            <p:cNvSpPr/>
            <p:nvPr/>
          </p:nvSpPr>
          <p:spPr>
            <a:xfrm>
              <a:off x="14368451" y="7072317"/>
              <a:ext cx="3567778" cy="321469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757032"/>
                <a:gd name="f4" fmla="val 4286250"/>
                <a:gd name="f5" fmla="*/ f0 1 4757032"/>
                <a:gd name="f6" fmla="*/ f1 1 4286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757032"/>
                <a:gd name="f13" fmla="*/ f10 1 4286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757032" h="4286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8">
                <a:alphaModFix amt="44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10AF594-1C24-EEF0-703A-FE5419052FBA}"/>
                </a:ext>
              </a:extLst>
            </p:cNvPr>
            <p:cNvSpPr/>
            <p:nvPr/>
          </p:nvSpPr>
          <p:spPr>
            <a:xfrm>
              <a:off x="10589803" y="0"/>
              <a:ext cx="7346426" cy="77197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795240"/>
                <a:gd name="f4" fmla="val 10292953"/>
                <a:gd name="f5" fmla="*/ f0 1 9795240"/>
                <a:gd name="f6" fmla="*/ f1 1 1029295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9795240"/>
                <a:gd name="f13" fmla="*/ f10 1 1029295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9795240" h="1029295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9">
                <a:alphaModFix amt="47000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217CE1D-CA37-1A6E-33CA-880CE5C428E0}"/>
                </a:ext>
              </a:extLst>
            </p:cNvPr>
            <p:cNvSpPr/>
            <p:nvPr/>
          </p:nvSpPr>
          <p:spPr>
            <a:xfrm rot="5399996" flipV="1">
              <a:off x="13854531" y="4091236"/>
              <a:ext cx="9858374" cy="167592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144500"/>
                <a:gd name="f4" fmla="val 2234565"/>
                <a:gd name="f5" fmla="val 2234564"/>
                <a:gd name="f6" fmla="*/ f0 1 13144500"/>
                <a:gd name="f7" fmla="*/ f1 1 2234565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3144500"/>
                <a:gd name="f14" fmla="*/ f11 1 2234565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3144500" h="2234565">
                  <a:moveTo>
                    <a:pt x="f2" y="f5"/>
                  </a:moveTo>
                  <a:lnTo>
                    <a:pt x="f3" y="f5"/>
                  </a:lnTo>
                  <a:lnTo>
                    <a:pt x="f3" y="f2"/>
                  </a:lnTo>
                  <a:lnTo>
                    <a:pt x="f2" y="f2"/>
                  </a:lnTo>
                  <a:lnTo>
                    <a:pt x="f2" y="f5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27846A0-B769-C8A7-8A4A-F25A39821385}"/>
                </a:ext>
              </a:extLst>
            </p:cNvPr>
            <p:cNvSpPr/>
            <p:nvPr/>
          </p:nvSpPr>
          <p:spPr>
            <a:xfrm>
              <a:off x="8540944" y="6643692"/>
              <a:ext cx="9747055" cy="36433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96069"/>
                <a:gd name="f4" fmla="val 4857750"/>
                <a:gd name="f5" fmla="*/ f0 1 12996069"/>
                <a:gd name="f6" fmla="*/ f1 1 48577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2996069"/>
                <a:gd name="f13" fmla="*/ f10 1 48577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2996069" h="48577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1">
                <a:alphaModFix amt="9999"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72CBFDF-AC17-AF72-4E72-115438DA5F8F}"/>
              </a:ext>
            </a:extLst>
          </p:cNvPr>
          <p:cNvGrpSpPr/>
          <p:nvPr/>
        </p:nvGrpSpPr>
        <p:grpSpPr>
          <a:xfrm>
            <a:off x="4353220" y="10"/>
            <a:ext cx="4187732" cy="10286999"/>
            <a:chOff x="4353220" y="10"/>
            <a:chExt cx="4187732" cy="1028699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2EC8B04-258B-A23E-538C-448F599D5BDC}"/>
                </a:ext>
              </a:extLst>
            </p:cNvPr>
            <p:cNvSpPr/>
            <p:nvPr/>
          </p:nvSpPr>
          <p:spPr>
            <a:xfrm>
              <a:off x="4353220" y="6643692"/>
              <a:ext cx="4187723" cy="36433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583634"/>
                <a:gd name="f4" fmla="val 4857750"/>
                <a:gd name="f5" fmla="*/ f0 1 5583634"/>
                <a:gd name="f6" fmla="*/ f1 1 48577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583634"/>
                <a:gd name="f13" fmla="*/ f10 1 48577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583634" h="48577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1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A6993A9-281F-FDD7-214B-8656A9C63C43}"/>
                </a:ext>
              </a:extLst>
            </p:cNvPr>
            <p:cNvSpPr/>
            <p:nvPr/>
          </p:nvSpPr>
          <p:spPr>
            <a:xfrm rot="5400013">
              <a:off x="2773805" y="4091236"/>
              <a:ext cx="9858374" cy="167592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144500"/>
                <a:gd name="f4" fmla="val 2234565"/>
                <a:gd name="f5" fmla="val 2234564"/>
                <a:gd name="f6" fmla="*/ f0 1 13144500"/>
                <a:gd name="f7" fmla="*/ f1 1 2234565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3144500"/>
                <a:gd name="f14" fmla="*/ f11 1 2234565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3144500" h="2234565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4B7158C8-28EB-59F1-D117-8CC5B32D93A6}"/>
              </a:ext>
            </a:extLst>
          </p:cNvPr>
          <p:cNvSpPr/>
          <p:nvPr/>
        </p:nvSpPr>
        <p:spPr>
          <a:xfrm>
            <a:off x="0" y="9858374"/>
            <a:ext cx="18288000" cy="428625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428625"/>
              <a:gd name="f5" fmla="*/ f0 1 18288000"/>
              <a:gd name="f6" fmla="*/ f1 1 42862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42862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42862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9CB5D6B-7F6D-6085-8CC3-DEBB10A07B3F}"/>
              </a:ext>
            </a:extLst>
          </p:cNvPr>
          <p:cNvSpPr/>
          <p:nvPr/>
        </p:nvSpPr>
        <p:spPr>
          <a:xfrm>
            <a:off x="13504599" y="509723"/>
            <a:ext cx="4090193" cy="1550072"/>
          </a:xfrm>
          <a:custGeom>
            <a:avLst/>
            <a:gdLst>
              <a:gd name="f0" fmla="val w"/>
              <a:gd name="f1" fmla="val h"/>
              <a:gd name="f2" fmla="val 0"/>
              <a:gd name="f3" fmla="val 4090195"/>
              <a:gd name="f4" fmla="val 1550074"/>
              <a:gd name="f5" fmla="*/ f0 1 4090195"/>
              <a:gd name="f6" fmla="*/ f1 1 155007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090195"/>
              <a:gd name="f13" fmla="*/ f10 1 155007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090195" h="155007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>
              <a:alphaModFix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9542262-F998-90BB-ADEB-560DDDBCD665}"/>
              </a:ext>
            </a:extLst>
          </p:cNvPr>
          <p:cNvGrpSpPr/>
          <p:nvPr/>
        </p:nvGrpSpPr>
        <p:grpSpPr>
          <a:xfrm>
            <a:off x="1334438" y="2059795"/>
            <a:ext cx="5671456" cy="4098121"/>
            <a:chOff x="1334438" y="2059795"/>
            <a:chExt cx="5671456" cy="409812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70B7A96-E730-5F29-5469-1560C3E1A67B}"/>
                </a:ext>
              </a:extLst>
            </p:cNvPr>
            <p:cNvSpPr/>
            <p:nvPr/>
          </p:nvSpPr>
          <p:spPr>
            <a:xfrm>
              <a:off x="1334438" y="2059795"/>
              <a:ext cx="5671456" cy="334379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561944"/>
                <a:gd name="f4" fmla="val 4458396"/>
                <a:gd name="f5" fmla="*/ f0 1 7561944"/>
                <a:gd name="f6" fmla="*/ f1 1 445839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7561944"/>
                <a:gd name="f13" fmla="*/ f10 1 445839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7561944" h="445839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4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3F178DE-53AD-6655-E94B-5831B7CA4842}"/>
                </a:ext>
              </a:extLst>
            </p:cNvPr>
            <p:cNvSpPr txBox="1"/>
            <p:nvPr/>
          </p:nvSpPr>
          <p:spPr>
            <a:xfrm>
              <a:off x="1482324" y="5462707"/>
              <a:ext cx="5375675" cy="69520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2715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262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23º Congresso Latino-americano de Software Livre e Tecnologias Abertas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587E615-95D5-A81F-83BA-C929DEF12D12}"/>
              </a:ext>
            </a:extLst>
          </p:cNvPr>
          <p:cNvGrpSpPr/>
          <p:nvPr/>
        </p:nvGrpSpPr>
        <p:grpSpPr>
          <a:xfrm>
            <a:off x="2207943" y="7286625"/>
            <a:ext cx="5077105" cy="1712268"/>
            <a:chOff x="2207943" y="7286625"/>
            <a:chExt cx="5077105" cy="1712268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629CA98-9479-0291-7E67-58F88A9BCF02}"/>
                </a:ext>
              </a:extLst>
            </p:cNvPr>
            <p:cNvSpPr/>
            <p:nvPr/>
          </p:nvSpPr>
          <p:spPr>
            <a:xfrm>
              <a:off x="2207943" y="7577513"/>
              <a:ext cx="5077105" cy="14213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69470"/>
                <a:gd name="f4" fmla="val 1248643"/>
                <a:gd name="f5" fmla="val 1248644"/>
                <a:gd name="f6" fmla="*/ f0 1 6769470"/>
                <a:gd name="f7" fmla="*/ f1 1 1248643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6769470"/>
                <a:gd name="f14" fmla="*/ f11 1 1248643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6769470" h="1248643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8D5CA7D-CC25-7543-C98A-490C6A233399}"/>
                </a:ext>
              </a:extLst>
            </p:cNvPr>
            <p:cNvSpPr txBox="1"/>
            <p:nvPr/>
          </p:nvSpPr>
          <p:spPr>
            <a:xfrm>
              <a:off x="3529071" y="7286625"/>
              <a:ext cx="1199893" cy="25170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201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73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Realização:</a:t>
              </a:r>
            </a:p>
          </p:txBody>
        </p:sp>
      </p:grpSp>
      <p:sp>
        <p:nvSpPr>
          <p:cNvPr id="28" name="Texto"/>
          <p:cNvSpPr txBox="1"/>
          <p:nvPr/>
        </p:nvSpPr>
        <p:spPr>
          <a:xfrm>
            <a:off x="9050000" y="2650000"/>
            <a:ext cx="84000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4142B"/>
                </a:solidFill>
                <a:latin typeface="Montserrat"/>
              </a:rPr>
              <a:t>Open Source LVC Simulation Architecture</a:t>
            </a:r>
          </a:p>
        </p:txBody>
      </p:sp>
      <p:sp>
        <p:nvSpPr>
          <p:cNvPr id="29" name="Texto"/>
          <p:cNvSpPr txBox="1"/>
          <p:nvPr/>
        </p:nvSpPr>
        <p:spPr>
          <a:xfrm>
            <a:off x="9350000" y="4500000"/>
            <a:ext cx="78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>
                <a:solidFill>
                  <a:srgbClr val="2C2C45"/>
                </a:solidFill>
                <a:latin typeface="Montserrat"/>
              </a:rPr>
              <a:t>Arquitetura event-driven Open Source, com Event Sourcing e CQRS, para simulações LVC em Smart Cities.</a:t>
            </a:r>
          </a:p>
        </p:txBody>
      </p:sp>
      <p:sp>
        <p:nvSpPr>
          <p:cNvPr id="30" name="Texto"/>
          <p:cNvSpPr txBox="1"/>
          <p:nvPr/>
        </p:nvSpPr>
        <p:spPr>
          <a:xfrm>
            <a:off x="9556440" y="6000000"/>
            <a:ext cx="50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1">
                <a:solidFill>
                  <a:srgbClr val="14142B"/>
                </a:solidFill>
                <a:latin typeface="Montserrat"/>
              </a:rPr>
              <a:t>Autores:</a:t>
            </a:r>
          </a:p>
        </p:txBody>
      </p:sp>
      <p:sp>
        <p:nvSpPr>
          <p:cNvPr id="31" name="Texto"/>
          <p:cNvSpPr txBox="1"/>
          <p:nvPr/>
        </p:nvSpPr>
        <p:spPr>
          <a:xfrm>
            <a:off x="9556440" y="6550000"/>
            <a:ext cx="5200000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Rafael Rodrigues Pereira</a:t>
            </a:r>
          </a:p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Luiza Ribeiro dos Santos</a:t>
            </a:r>
          </a:p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Marcos Vogel</a:t>
            </a:r>
          </a:p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Bruno da Silva Rodrigues</a:t>
            </a:r>
          </a:p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Fabio Silva Lopes</a:t>
            </a:r>
          </a:p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Fabio Kawaoka Takase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DBB584-4EBB-B475-7423-18CFF9556187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273A5C-3FCF-A123-95DD-76197079DB5B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153D41-6C1D-60CD-6AA4-2A24658A5403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9615E3-FC67-EB1B-4FE8-9032632C5304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2F78C66-FC5D-CD99-C598-20F36532D283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B63375-BD04-C0DD-8658-64F89AA9B537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6DEEF3B-72B0-1C29-2173-1EC499CFA543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D5A34D7-6DB3-D35D-9262-793F295A320C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Agenda</a:t>
            </a: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AGENDA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02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2528700" y="2507000"/>
            <a:ext cx="13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685BC7"/>
                </a:solidFill>
                <a:latin typeface="Consolas"/>
              </a:rPr>
              <a:t>01</a:t>
            </a:r>
          </a:p>
        </p:txBody>
      </p:sp>
      <p:sp>
        <p:nvSpPr>
          <p:cNvPr id="12" name="Texto"/>
          <p:cNvSpPr txBox="1"/>
          <p:nvPr/>
        </p:nvSpPr>
        <p:spPr>
          <a:xfrm>
            <a:off x="4028700" y="2507000"/>
            <a:ext cx="110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>
                <a:solidFill>
                  <a:srgbClr val="14142B"/>
                </a:solidFill>
                <a:latin typeface="Montserrat"/>
              </a:rPr>
              <a:t>Problema e lacuna</a:t>
            </a:r>
          </a:p>
        </p:txBody>
      </p:sp>
      <p:sp>
        <p:nvSpPr>
          <p:cNvPr id="13" name="Linha"/>
          <p:cNvSpPr/>
          <p:nvPr/>
        </p:nvSpPr>
        <p:spPr>
          <a:xfrm>
            <a:off x="2528700" y="3777000"/>
            <a:ext cx="13230600" cy="12000"/>
          </a:xfrm>
          <a:prstGeom prst="rect">
            <a:avLst/>
          </a:prstGeom>
          <a:solidFill>
            <a:srgbClr val="D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"/>
          <p:cNvSpPr txBox="1"/>
          <p:nvPr/>
        </p:nvSpPr>
        <p:spPr>
          <a:xfrm>
            <a:off x="2528700" y="4207000"/>
            <a:ext cx="13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685BC7"/>
                </a:solidFill>
                <a:latin typeface="Consolas"/>
              </a:rPr>
              <a:t>02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4028700" y="4207000"/>
            <a:ext cx="110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>
                <a:solidFill>
                  <a:srgbClr val="14142B"/>
                </a:solidFill>
                <a:latin typeface="Montserrat"/>
              </a:rPr>
              <a:t>Arquitetura proposta</a:t>
            </a:r>
          </a:p>
        </p:txBody>
      </p:sp>
      <p:sp>
        <p:nvSpPr>
          <p:cNvPr id="16" name="Linha"/>
          <p:cNvSpPr/>
          <p:nvPr/>
        </p:nvSpPr>
        <p:spPr>
          <a:xfrm>
            <a:off x="2528700" y="5477000"/>
            <a:ext cx="13230600" cy="12000"/>
          </a:xfrm>
          <a:prstGeom prst="rect">
            <a:avLst/>
          </a:prstGeom>
          <a:solidFill>
            <a:srgbClr val="D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2528700" y="5907000"/>
            <a:ext cx="13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685BC7"/>
                </a:solidFill>
                <a:latin typeface="Consolas"/>
              </a:rPr>
              <a:t>03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4028700" y="5907000"/>
            <a:ext cx="110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>
                <a:solidFill>
                  <a:srgbClr val="14142B"/>
                </a:solidFill>
                <a:latin typeface="Montserrat"/>
              </a:rPr>
              <a:t>Cenários em funcionamento</a:t>
            </a:r>
          </a:p>
        </p:txBody>
      </p:sp>
      <p:sp>
        <p:nvSpPr>
          <p:cNvPr id="19" name="Linha"/>
          <p:cNvSpPr/>
          <p:nvPr/>
        </p:nvSpPr>
        <p:spPr>
          <a:xfrm>
            <a:off x="2528700" y="7177000"/>
            <a:ext cx="13230600" cy="12000"/>
          </a:xfrm>
          <a:prstGeom prst="rect">
            <a:avLst/>
          </a:prstGeom>
          <a:solidFill>
            <a:srgbClr val="D8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o"/>
          <p:cNvSpPr txBox="1"/>
          <p:nvPr/>
        </p:nvSpPr>
        <p:spPr>
          <a:xfrm>
            <a:off x="2528700" y="7607000"/>
            <a:ext cx="13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685BC7"/>
                </a:solidFill>
                <a:latin typeface="Consolas"/>
              </a:rPr>
              <a:t>04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4028700" y="7607000"/>
            <a:ext cx="110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>
                <a:solidFill>
                  <a:srgbClr val="14142B"/>
                </a:solidFill>
                <a:latin typeface="Montserrat"/>
              </a:rPr>
              <a:t>Contribuições e limites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PARTE 01 DE 04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03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028700" y="19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PARTE 01</a:t>
            </a:r>
          </a:p>
        </p:txBody>
      </p:sp>
      <p:sp>
        <p:nvSpPr>
          <p:cNvPr id="11" name="Progresso"/>
          <p:cNvSpPr/>
          <p:nvPr/>
        </p:nvSpPr>
        <p:spPr>
          <a:xfrm>
            <a:off x="29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o"/>
          <p:cNvSpPr/>
          <p:nvPr/>
        </p:nvSpPr>
        <p:spPr>
          <a:xfrm>
            <a:off x="39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o"/>
          <p:cNvSpPr/>
          <p:nvPr/>
        </p:nvSpPr>
        <p:spPr>
          <a:xfrm>
            <a:off x="50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gresso"/>
          <p:cNvSpPr/>
          <p:nvPr/>
        </p:nvSpPr>
        <p:spPr>
          <a:xfrm>
            <a:off x="60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"/>
          <p:cNvSpPr txBox="1"/>
          <p:nvPr/>
        </p:nvSpPr>
        <p:spPr>
          <a:xfrm>
            <a:off x="7248700" y="1900000"/>
            <a:ext cx="1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546E"/>
                </a:solidFill>
                <a:latin typeface="Consolas"/>
              </a:rPr>
              <a:t>DE 04</a:t>
            </a:r>
          </a:p>
        </p:txBody>
      </p:sp>
      <p:sp>
        <p:nvSpPr>
          <p:cNvPr id="16" name="Numeral decorativo"/>
          <p:cNvSpPr txBox="1"/>
          <p:nvPr/>
        </p:nvSpPr>
        <p:spPr>
          <a:xfrm>
            <a:off x="878700" y="2730000"/>
            <a:ext cx="8000000" cy="5900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0" b="1">
                <a:solidFill>
                  <a:srgbClr val="E1DAF6"/>
                </a:solidFill>
                <a:latin typeface="Montserrat"/>
              </a:rPr>
              <a:t>01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8900000" y="4931728"/>
            <a:ext cx="835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PRÓXIMA SEÇÃO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8900000" y="5411728"/>
            <a:ext cx="8350000" cy="89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14142B"/>
                </a:solidFill>
                <a:latin typeface="Montserrat"/>
              </a:rPr>
              <a:t>Problema e lacuna</a:t>
            </a:r>
          </a:p>
        </p:txBody>
      </p:sp>
      <p:sp>
        <p:nvSpPr>
          <p:cNvPr id="19" name="Acento"/>
          <p:cNvSpPr/>
          <p:nvPr/>
        </p:nvSpPr>
        <p:spPr>
          <a:xfrm>
            <a:off x="8900000" y="6588272"/>
            <a:ext cx="110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598E0F-0F42-416A-3C32-0A90EA331159}"/>
              </a:ext>
            </a:extLst>
          </p:cNvPr>
          <p:cNvSpPr/>
          <p:nvPr/>
        </p:nvSpPr>
        <p:spPr>
          <a:xfrm>
            <a:off x="0" y="6643682"/>
            <a:ext cx="18288000" cy="3643317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3643313"/>
              <a:gd name="f5" fmla="*/ f0 1 18288000"/>
              <a:gd name="f6" fmla="*/ f1 1 364331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364331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364331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F20014-BC70-0529-4FF8-2E12EF9FCDC5}"/>
              </a:ext>
            </a:extLst>
          </p:cNvPr>
          <p:cNvSpPr/>
          <p:nvPr/>
        </p:nvSpPr>
        <p:spPr>
          <a:xfrm>
            <a:off x="0" y="4286249"/>
            <a:ext cx="2616400" cy="6000749"/>
          </a:xfrm>
          <a:custGeom>
            <a:avLst/>
            <a:gdLst>
              <a:gd name="f0" fmla="val w"/>
              <a:gd name="f1" fmla="val h"/>
              <a:gd name="f2" fmla="val 0"/>
              <a:gd name="f3" fmla="val 2616398"/>
              <a:gd name="f4" fmla="val 6000750"/>
              <a:gd name="f5" fmla="*/ f0 1 2616398"/>
              <a:gd name="f6" fmla="*/ f1 1 60007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616398"/>
              <a:gd name="f13" fmla="*/ f10 1 60007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616398" h="60007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D04122-BF63-DF12-1A53-F45C3AFFC512}"/>
              </a:ext>
            </a:extLst>
          </p:cNvPr>
          <p:cNvSpPr/>
          <p:nvPr/>
        </p:nvSpPr>
        <p:spPr>
          <a:xfrm>
            <a:off x="0" y="8139412"/>
            <a:ext cx="1308195" cy="2147587"/>
          </a:xfrm>
          <a:custGeom>
            <a:avLst/>
            <a:gdLst>
              <a:gd name="f0" fmla="val w"/>
              <a:gd name="f1" fmla="val h"/>
              <a:gd name="f2" fmla="val 0"/>
              <a:gd name="f3" fmla="val 1308199"/>
              <a:gd name="f4" fmla="val 2147590"/>
              <a:gd name="f5" fmla="*/ f0 1 1308199"/>
              <a:gd name="f6" fmla="*/ f1 1 214759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308199"/>
              <a:gd name="f13" fmla="*/ f10 1 214759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308199" h="214759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394F5A-996C-2225-21CD-3997E402C759}"/>
              </a:ext>
            </a:extLst>
          </p:cNvPr>
          <p:cNvSpPr/>
          <p:nvPr/>
        </p:nvSpPr>
        <p:spPr>
          <a:xfrm>
            <a:off x="0" y="0"/>
            <a:ext cx="4138912" cy="3214682"/>
          </a:xfrm>
          <a:custGeom>
            <a:avLst/>
            <a:gdLst>
              <a:gd name="f0" fmla="val w"/>
              <a:gd name="f1" fmla="val h"/>
              <a:gd name="f2" fmla="val 0"/>
              <a:gd name="f3" fmla="val 4138910"/>
              <a:gd name="f4" fmla="val 3214687"/>
              <a:gd name="f5" fmla="*/ f0 1 4138910"/>
              <a:gd name="f6" fmla="*/ f1 1 321468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138910"/>
              <a:gd name="f13" fmla="*/ f10 1 321468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138910" h="321468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F31BC5-25CA-B1AB-7310-9798220F7508}"/>
              </a:ext>
            </a:extLst>
          </p:cNvPr>
          <p:cNvSpPr/>
          <p:nvPr/>
        </p:nvSpPr>
        <p:spPr>
          <a:xfrm>
            <a:off x="10941573" y="0"/>
            <a:ext cx="7346426" cy="7719712"/>
          </a:xfrm>
          <a:custGeom>
            <a:avLst/>
            <a:gdLst>
              <a:gd name="f0" fmla="val w"/>
              <a:gd name="f1" fmla="val h"/>
              <a:gd name="f2" fmla="val 0"/>
              <a:gd name="f3" fmla="val 7346430"/>
              <a:gd name="f4" fmla="val 7719715"/>
              <a:gd name="f5" fmla="*/ f0 1 7346430"/>
              <a:gd name="f6" fmla="*/ f1 1 771971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7346430"/>
              <a:gd name="f13" fmla="*/ f10 1 771971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7346430" h="771971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6">
              <a:alphaModFix amt="47000"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E21C130-C475-51B4-6616-60E4D88BA641}"/>
              </a:ext>
            </a:extLst>
          </p:cNvPr>
          <p:cNvSpPr/>
          <p:nvPr/>
        </p:nvSpPr>
        <p:spPr>
          <a:xfrm>
            <a:off x="14720221" y="7438863"/>
            <a:ext cx="3567778" cy="3214692"/>
          </a:xfrm>
          <a:custGeom>
            <a:avLst/>
            <a:gdLst>
              <a:gd name="f0" fmla="val w"/>
              <a:gd name="f1" fmla="val h"/>
              <a:gd name="f2" fmla="val 0"/>
              <a:gd name="f3" fmla="val 3567774"/>
              <a:gd name="f4" fmla="val 3214688"/>
              <a:gd name="f5" fmla="val 3214687"/>
              <a:gd name="f6" fmla="*/ f0 1 3567774"/>
              <a:gd name="f7" fmla="*/ f1 1 321468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3567774"/>
              <a:gd name="f14" fmla="*/ f11 1 321468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3567774" h="3214688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7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A39E1ED-82CB-9C80-5493-31BBCFCC8261}"/>
              </a:ext>
            </a:extLst>
          </p:cNvPr>
          <p:cNvSpPr/>
          <p:nvPr/>
        </p:nvSpPr>
        <p:spPr>
          <a:xfrm>
            <a:off x="4353220" y="6643682"/>
            <a:ext cx="13934779" cy="3643317"/>
          </a:xfrm>
          <a:custGeom>
            <a:avLst/>
            <a:gdLst>
              <a:gd name="f0" fmla="val w"/>
              <a:gd name="f1" fmla="val h"/>
              <a:gd name="f2" fmla="val 0"/>
              <a:gd name="f3" fmla="val 13934777"/>
              <a:gd name="f4" fmla="val 3643313"/>
              <a:gd name="f5" fmla="*/ f0 1 13934777"/>
              <a:gd name="f6" fmla="*/ f1 1 364331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3934777"/>
              <a:gd name="f13" fmla="*/ f10 1 364331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3934777" h="364331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8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17EFA50-918F-210A-24DC-E9ACAA8A6E94}"/>
              </a:ext>
            </a:extLst>
          </p:cNvPr>
          <p:cNvGrpSpPr/>
          <p:nvPr/>
        </p:nvGrpSpPr>
        <p:grpSpPr>
          <a:xfrm>
            <a:off x="4409758" y="7768650"/>
            <a:ext cx="10310462" cy="1471206"/>
            <a:chOff x="4409758" y="7768650"/>
            <a:chExt cx="10310462" cy="147120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76A749-C1FD-8F56-A858-EC304BBAF45C}"/>
                </a:ext>
              </a:extLst>
            </p:cNvPr>
            <p:cNvSpPr/>
            <p:nvPr/>
          </p:nvSpPr>
          <p:spPr>
            <a:xfrm>
              <a:off x="4409758" y="7775792"/>
              <a:ext cx="3527124" cy="137910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702836"/>
                <a:gd name="f4" fmla="val 1838806"/>
                <a:gd name="f5" fmla="*/ f0 1 4702836"/>
                <a:gd name="f6" fmla="*/ f1 1 183880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702836"/>
                <a:gd name="f13" fmla="*/ f10 1 183880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702836" h="183880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75D7FE-E9AD-8D5A-873D-CE9A125D9891}"/>
                </a:ext>
              </a:extLst>
            </p:cNvPr>
            <p:cNvSpPr/>
            <p:nvPr/>
          </p:nvSpPr>
          <p:spPr>
            <a:xfrm>
              <a:off x="9876798" y="7804669"/>
              <a:ext cx="4843422" cy="143518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196575"/>
                <a:gd name="f4" fmla="val 1142971"/>
                <a:gd name="f5" fmla="val 1142972"/>
                <a:gd name="f6" fmla="*/ f0 1 6196575"/>
                <a:gd name="f7" fmla="*/ f1 1 1142971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6196575"/>
                <a:gd name="f14" fmla="*/ f11 1 1142971"/>
                <a:gd name="f15" fmla="*/ f8 1 f13"/>
                <a:gd name="f16" fmla="*/ f9 1 f13"/>
                <a:gd name="f17" fmla="*/ f8 1 f14"/>
                <a:gd name="f18" fmla="*/ f10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6196575" h="1142971">
                  <a:moveTo>
                    <a:pt x="f2" y="f2"/>
                  </a:moveTo>
                  <a:lnTo>
                    <a:pt x="f3" y="f2"/>
                  </a:lnTo>
                  <a:lnTo>
                    <a:pt x="f3" y="f5"/>
                  </a:lnTo>
                  <a:lnTo>
                    <a:pt x="f2" y="f5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10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F5E5479-0B0D-251D-3EAF-789BB7641099}"/>
                </a:ext>
              </a:extLst>
            </p:cNvPr>
            <p:cNvSpPr txBox="1"/>
            <p:nvPr/>
          </p:nvSpPr>
          <p:spPr>
            <a:xfrm>
              <a:off x="10967697" y="7768650"/>
              <a:ext cx="1098349" cy="23755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ts val="184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32" b="1" i="0" u="none" strike="noStrike" kern="1200" cap="none" spc="0" baseline="0">
                  <a:solidFill>
                    <a:srgbClr val="FFFFFF"/>
                  </a:solidFill>
                  <a:uFillTx/>
                  <a:latin typeface="Montserrat Medium"/>
                  <a:ea typeface="Montserrat Medium"/>
                  <a:cs typeface="Montserrat Medium"/>
                </a:rPr>
                <a:t>Realização: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9EE4875-B510-7830-2CC2-D302B73D2862}"/>
              </a:ext>
            </a:extLst>
          </p:cNvPr>
          <p:cNvSpPr txBox="1"/>
          <p:nvPr/>
        </p:nvSpPr>
        <p:spPr>
          <a:xfrm>
            <a:off x="6456166" y="2690667"/>
            <a:ext cx="5375675" cy="8953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999" b="1" i="0" u="none" strike="noStrike" kern="1200" cap="none" spc="0" baseline="0">
                <a:solidFill>
                  <a:srgbClr val="685BC7"/>
                </a:solidFill>
                <a:uFillTx/>
                <a:latin typeface="Montserrat Medium"/>
                <a:ea typeface="Montserrat Medium"/>
                <a:cs typeface="Montserrat Medium"/>
              </a:rPr>
              <a:t>Dúvidas?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5586D80-CBCE-DABC-14B5-DBB0DA8D3DE5}"/>
              </a:ext>
            </a:extLst>
          </p:cNvPr>
          <p:cNvSpPr txBox="1"/>
          <p:nvPr/>
        </p:nvSpPr>
        <p:spPr>
          <a:xfrm>
            <a:off x="6456166" y="4040687"/>
            <a:ext cx="5375675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500" b="0" i="1" u="none" strike="noStrike" kern="1200" cap="none" spc="0" baseline="0">
                <a:solidFill>
                  <a:srgbClr val="685BC7"/>
                </a:solidFill>
                <a:uFillTx/>
                <a:latin typeface="Montserrat Italics"/>
                <a:ea typeface="Montserrat Italics"/>
                <a:cs typeface="Montserrat Italics"/>
              </a:rPr>
              <a:t>Contato: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DFF21E-6EAC-1F0A-B612-E00C67714EE6}"/>
              </a:ext>
            </a:extLst>
          </p:cNvPr>
          <p:cNvSpPr txBox="1"/>
          <p:nvPr/>
        </p:nvSpPr>
        <p:spPr>
          <a:xfrm>
            <a:off x="6456166" y="4657578"/>
            <a:ext cx="5375675" cy="3810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500" b="1" i="0" u="none" strike="noStrike" kern="1200" cap="none" spc="0" baseline="0">
                <a:solidFill>
                  <a:srgbClr val="685BC7"/>
                </a:solidFill>
                <a:uFillTx/>
                <a:latin typeface="Montserrat Bold"/>
                <a:ea typeface="Montserrat Bold"/>
                <a:cs typeface="Montserrat Bold"/>
              </a:rPr>
              <a:t>rafael.informa@gmail.com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5900000" y="5350000"/>
            <a:ext cx="65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4142B"/>
                </a:solidFill>
                <a:latin typeface="Montserrat"/>
              </a:rPr>
              <a:t>github.com/tcc-modern-lvc-arch</a:t>
            </a:r>
          </a:p>
          <a:p>
            <a:pPr algn="ctr"/>
            <a:r>
              <a:rPr sz="2000">
                <a:solidFill>
                  <a:srgbClr val="14142B"/>
                </a:solidFill>
                <a:latin typeface="Montserrat"/>
              </a:rPr>
              <a:t>deepwiki.com/tcc-modern-lvc-arch</a:t>
            </a:r>
          </a:p>
        </p:txBody>
      </p:sp>
      <p:sp>
        <p:nvSpPr>
          <p:cNvPr id="17" name="Forma QR"/>
          <p:cNvSpPr/>
          <p:nvPr/>
        </p:nvSpPr>
        <p:spPr>
          <a:xfrm>
            <a:off x="2250000" y="1350000"/>
            <a:ext cx="3900000" cy="3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685BC7"/>
            </a:solidFill>
          </a:ln>
          <a:effectLst>
            <a:outerShdw blurRad="228600" dist="71437" dir="5400000" algn="t" rotWithShape="0">
              <a:srgbClr val="1414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magem QR LinkedIn" descr="qr_linked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2000" y="1662000"/>
            <a:ext cx="3276000" cy="3276000"/>
          </a:xfrm>
          <a:prstGeom prst="rect">
            <a:avLst/>
          </a:prstGeom>
        </p:spPr>
      </p:pic>
      <p:sp>
        <p:nvSpPr>
          <p:cNvPr id="19" name="Pílula QR"/>
          <p:cNvSpPr/>
          <p:nvPr/>
        </p:nvSpPr>
        <p:spPr>
          <a:xfrm>
            <a:off x="3414701" y="5450000"/>
            <a:ext cx="1570599" cy="43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  <p:sp>
        <p:nvSpPr>
          <p:cNvPr id="20" name="Forma QR"/>
          <p:cNvSpPr/>
          <p:nvPr/>
        </p:nvSpPr>
        <p:spPr>
          <a:xfrm>
            <a:off x="12140000" y="1350000"/>
            <a:ext cx="3900000" cy="3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685BC7"/>
            </a:solidFill>
          </a:ln>
          <a:effectLst>
            <a:outerShdw blurRad="228600" dist="71437" dir="5400000" algn="t" rotWithShape="0">
              <a:srgbClr val="1414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m QR Projeto e repositório" descr="qr_rep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52000" y="1662000"/>
            <a:ext cx="3276000" cy="3276000"/>
          </a:xfrm>
          <a:prstGeom prst="rect">
            <a:avLst/>
          </a:prstGeom>
        </p:spPr>
      </p:pic>
      <p:sp>
        <p:nvSpPr>
          <p:cNvPr id="22" name="Pílula QR"/>
          <p:cNvSpPr/>
          <p:nvPr/>
        </p:nvSpPr>
        <p:spPr>
          <a:xfrm>
            <a:off x="12722150" y="5450000"/>
            <a:ext cx="2735700" cy="43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Projeto e repositório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Gêmeos urbanos misturam fontes, pessoas e simulações.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1 · PROBLEMA E COMPLEXIDADE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04</a:t>
            </a:r>
          </a:p>
        </p:txBody>
      </p:sp>
      <p:sp>
        <p:nvSpPr>
          <p:cNvPr id="11" name="Forma card"/>
          <p:cNvSpPr/>
          <p:nvPr/>
        </p:nvSpPr>
        <p:spPr>
          <a:xfrm>
            <a:off x="9968700" y="1960440"/>
            <a:ext cx="7350600" cy="5273121"/>
          </a:xfrm>
          <a:prstGeom prst="roundRect">
            <a:avLst>
              <a:gd name="adj" fmla="val 4335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  <a:effectLst>
            <a:outerShdw blurRad="182880" dist="57150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m mapa do campus" descr="mapa_campu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8700" y="2020440"/>
            <a:ext cx="7230600" cy="5153121"/>
          </a:xfrm>
          <a:prstGeom prst="rect">
            <a:avLst/>
          </a:prstGeom>
        </p:spPr>
      </p:pic>
      <p:sp>
        <p:nvSpPr>
          <p:cNvPr id="13" name="Texto"/>
          <p:cNvSpPr txBox="1"/>
          <p:nvPr/>
        </p:nvSpPr>
        <p:spPr>
          <a:xfrm>
            <a:off x="10028700" y="7293561"/>
            <a:ext cx="72306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>
                <a:solidFill>
                  <a:srgbClr val="55546E"/>
                </a:solidFill>
                <a:latin typeface="Consolas"/>
              </a:rPr>
              <a:t>Recorte do estudo · Campus Higienópolis, São Paulo</a:t>
            </a:r>
          </a:p>
        </p:txBody>
      </p:sp>
      <p:sp>
        <p:nvSpPr>
          <p:cNvPr id="14" name="Forma disco"/>
          <p:cNvSpPr/>
          <p:nvPr/>
        </p:nvSpPr>
        <p:spPr>
          <a:xfrm>
            <a:off x="1028700" y="2080440"/>
            <a:ext cx="520000" cy="52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1748700" y="2020440"/>
            <a:ext cx="778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4142B"/>
                </a:solidFill>
                <a:latin typeface="Montserrat"/>
              </a:rPr>
              <a:t>Fontes heterogêneas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1748700" y="2490440"/>
            <a:ext cx="7780000" cy="93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Navios, ônibus e alagamentos chegam em formatos e acessos diferentes.</a:t>
            </a:r>
          </a:p>
        </p:txBody>
      </p:sp>
      <p:sp>
        <p:nvSpPr>
          <p:cNvPr id="17" name="Forma disco"/>
          <p:cNvSpPr/>
          <p:nvPr/>
        </p:nvSpPr>
        <p:spPr>
          <a:xfrm>
            <a:off x="1028700" y="3488720"/>
            <a:ext cx="520000" cy="520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1748700" y="3428720"/>
            <a:ext cx="778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4142B"/>
                </a:solidFill>
                <a:latin typeface="Montserrat"/>
              </a:rPr>
              <a:t>Atores de naturezas diferentes</a:t>
            </a:r>
          </a:p>
        </p:txBody>
      </p:sp>
      <p:sp>
        <p:nvSpPr>
          <p:cNvPr id="19" name="Texto"/>
          <p:cNvSpPr txBox="1"/>
          <p:nvPr/>
        </p:nvSpPr>
        <p:spPr>
          <a:xfrm>
            <a:off x="1748700" y="3898720"/>
            <a:ext cx="7780000" cy="93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Dados reais, operadores humanos e agentes autônomos, como um drone.</a:t>
            </a:r>
          </a:p>
        </p:txBody>
      </p:sp>
      <p:sp>
        <p:nvSpPr>
          <p:cNvPr id="20" name="Forma disco"/>
          <p:cNvSpPr/>
          <p:nvPr/>
        </p:nvSpPr>
        <p:spPr>
          <a:xfrm>
            <a:off x="1028700" y="4897000"/>
            <a:ext cx="520000" cy="5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1748700" y="4837000"/>
            <a:ext cx="778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4142B"/>
                </a:solidFill>
                <a:latin typeface="Montserrat"/>
              </a:rPr>
              <a:t>Eventos que se afetam</a:t>
            </a:r>
          </a:p>
        </p:txBody>
      </p:sp>
      <p:sp>
        <p:nvSpPr>
          <p:cNvPr id="22" name="Texto"/>
          <p:cNvSpPr txBox="1"/>
          <p:nvPr/>
        </p:nvSpPr>
        <p:spPr>
          <a:xfrm>
            <a:off x="1748700" y="5307000"/>
            <a:ext cx="7780000" cy="93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Um ônibus ou um alagamento pode disparar uma resposta em outro sistema.</a:t>
            </a:r>
          </a:p>
        </p:txBody>
      </p:sp>
      <p:sp>
        <p:nvSpPr>
          <p:cNvPr id="23" name="Forma disco"/>
          <p:cNvSpPr/>
          <p:nvPr/>
        </p:nvSpPr>
        <p:spPr>
          <a:xfrm>
            <a:off x="1028700" y="6305280"/>
            <a:ext cx="520000" cy="520000"/>
          </a:xfrm>
          <a:prstGeom prst="ellipse">
            <a:avLst/>
          </a:prstGeom>
          <a:solidFill>
            <a:srgbClr val="C0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4" name="Texto"/>
          <p:cNvSpPr txBox="1"/>
          <p:nvPr/>
        </p:nvSpPr>
        <p:spPr>
          <a:xfrm>
            <a:off x="1748700" y="6245280"/>
            <a:ext cx="778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4142B"/>
                </a:solidFill>
                <a:latin typeface="Montserrat"/>
              </a:rPr>
              <a:t>Testar na cidade é caro</a:t>
            </a:r>
          </a:p>
        </p:txBody>
      </p:sp>
      <p:sp>
        <p:nvSpPr>
          <p:cNvPr id="25" name="Texto"/>
          <p:cNvSpPr txBox="1"/>
          <p:nvPr/>
        </p:nvSpPr>
        <p:spPr>
          <a:xfrm>
            <a:off x="1748700" y="6715280"/>
            <a:ext cx="7780000" cy="93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Parte do cenário precisa ser simulada, sem perder o vínculo com o real.</a:t>
            </a:r>
          </a:p>
        </p:txBody>
      </p:sp>
      <p:sp>
        <p:nvSpPr>
          <p:cNvPr id="26" name="Forma faixa"/>
          <p:cNvSpPr/>
          <p:nvPr/>
        </p:nvSpPr>
        <p:spPr>
          <a:xfrm>
            <a:off x="1028700" y="8033561"/>
            <a:ext cx="16230600" cy="86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o"/>
          <p:cNvSpPr txBox="1"/>
          <p:nvPr/>
        </p:nvSpPr>
        <p:spPr>
          <a:xfrm>
            <a:off x="1528700" y="8033561"/>
            <a:ext cx="15230600" cy="8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ontserrat"/>
              </a:rPr>
              <a:t>Misturar o real e o simulado numa mesma simulação tem nome: LVC.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LVC: quem é real e quem é simulado.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1 · PROBLEMA · PARADIGMA LVC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05</a:t>
            </a:r>
          </a:p>
        </p:txBody>
      </p:sp>
      <p:sp>
        <p:nvSpPr>
          <p:cNvPr id="11" name="Diagrama caixa"/>
          <p:cNvSpPr/>
          <p:nvPr/>
        </p:nvSpPr>
        <p:spPr>
          <a:xfrm>
            <a:off x="7494000" y="1817000"/>
            <a:ext cx="1500000" cy="420000"/>
          </a:xfrm>
          <a:prstGeom prst="roundRect">
            <a:avLst>
              <a:gd name="adj" fmla="val 30952"/>
            </a:avLst>
          </a:prstGeom>
          <a:solidFill>
            <a:srgbClr val="FFFFFF"/>
          </a:solidFill>
          <a:ln w="21431">
            <a:solidFill>
              <a:srgbClr val="3D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o"/>
          <p:cNvSpPr txBox="1"/>
          <p:nvPr/>
        </p:nvSpPr>
        <p:spPr>
          <a:xfrm>
            <a:off x="7654000" y="1817000"/>
            <a:ext cx="118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2B"/>
                </a:solidFill>
                <a:latin typeface="Montserrat"/>
              </a:rPr>
              <a:t>real</a:t>
            </a:r>
          </a:p>
        </p:txBody>
      </p:sp>
      <p:sp>
        <p:nvSpPr>
          <p:cNvPr id="13" name="Diagrama caixa"/>
          <p:cNvSpPr/>
          <p:nvPr/>
        </p:nvSpPr>
        <p:spPr>
          <a:xfrm>
            <a:off x="9294000" y="1817000"/>
            <a:ext cx="1500000" cy="420000"/>
          </a:xfrm>
          <a:prstGeom prst="roundRect">
            <a:avLst>
              <a:gd name="adj" fmla="val 30952"/>
            </a:avLst>
          </a:prstGeom>
          <a:solidFill>
            <a:srgbClr val="3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"/>
          <p:cNvSpPr txBox="1"/>
          <p:nvPr/>
        </p:nvSpPr>
        <p:spPr>
          <a:xfrm>
            <a:off x="9454000" y="1817000"/>
            <a:ext cx="118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simulado</a:t>
            </a:r>
          </a:p>
        </p:txBody>
      </p:sp>
      <p:sp>
        <p:nvSpPr>
          <p:cNvPr id="15" name="Forma card borda"/>
          <p:cNvSpPr/>
          <p:nvPr/>
        </p:nvSpPr>
        <p:spPr>
          <a:xfrm>
            <a:off x="1028700" y="2557000"/>
            <a:ext cx="5156866" cy="5700000"/>
          </a:xfrm>
          <a:prstGeom prst="roundRect">
            <a:avLst>
              <a:gd name="adj" fmla="val 4432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ma card"/>
          <p:cNvSpPr/>
          <p:nvPr/>
        </p:nvSpPr>
        <p:spPr>
          <a:xfrm>
            <a:off x="1028700" y="2617000"/>
            <a:ext cx="5156866" cy="56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1408700" y="293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8B94"/>
                </a:solidFill>
                <a:latin typeface="Consolas"/>
              </a:rPr>
              <a:t>LIVE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1408700" y="328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Pessoa real, sistema real</a:t>
            </a:r>
          </a:p>
        </p:txBody>
      </p:sp>
      <p:sp>
        <p:nvSpPr>
          <p:cNvPr id="19" name="Diagrama caixa"/>
          <p:cNvSpPr/>
          <p:nvPr/>
        </p:nvSpPr>
        <p:spPr>
          <a:xfrm>
            <a:off x="1408700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o"/>
          <p:cNvSpPr txBox="1"/>
          <p:nvPr/>
        </p:nvSpPr>
        <p:spPr>
          <a:xfrm>
            <a:off x="1568700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Pessoa</a:t>
            </a:r>
          </a:p>
          <a:p>
            <a:pPr algn="ctr"/>
            <a:r>
              <a:rPr sz="1500">
                <a:solidFill>
                  <a:srgbClr val="55546E"/>
                </a:solidFill>
                <a:latin typeface="Consolas"/>
              </a:rPr>
              <a:t>real</a:t>
            </a:r>
          </a:p>
        </p:txBody>
      </p:sp>
      <p:sp>
        <p:nvSpPr>
          <p:cNvPr id="21" name="Diagrama caixa"/>
          <p:cNvSpPr/>
          <p:nvPr/>
        </p:nvSpPr>
        <p:spPr>
          <a:xfrm>
            <a:off x="3957133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"/>
          <p:cNvSpPr txBox="1"/>
          <p:nvPr/>
        </p:nvSpPr>
        <p:spPr>
          <a:xfrm>
            <a:off x="4117133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Sistema</a:t>
            </a:r>
          </a:p>
          <a:p>
            <a:pPr algn="ctr"/>
            <a:r>
              <a:rPr sz="1500">
                <a:solidFill>
                  <a:srgbClr val="55546E"/>
                </a:solidFill>
                <a:latin typeface="Consolas"/>
              </a:rPr>
              <a:t>real</a:t>
            </a:r>
          </a:p>
        </p:txBody>
      </p:sp>
      <p:cxnSp>
        <p:nvCxnSpPr>
          <p:cNvPr id="23" name="Diagrama seta"/>
          <p:cNvCxnSpPr/>
          <p:nvPr/>
        </p:nvCxnSpPr>
        <p:spPr>
          <a:xfrm>
            <a:off x="3287133" y="4707000"/>
            <a:ext cx="640000" cy="0"/>
          </a:xfrm>
          <a:prstGeom prst="line">
            <a:avLst/>
          </a:prstGeom>
          <a:ln w="38100" cap="rnd">
            <a:solidFill>
              <a:srgbClr val="0F8B9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o"/>
          <p:cNvSpPr txBox="1"/>
          <p:nvPr/>
        </p:nvSpPr>
        <p:spPr>
          <a:xfrm>
            <a:off x="3257133" y="4307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8B94"/>
                </a:solidFill>
                <a:latin typeface="Consolas"/>
              </a:rPr>
              <a:t>opera</a:t>
            </a:r>
          </a:p>
        </p:txBody>
      </p:sp>
      <p:sp>
        <p:nvSpPr>
          <p:cNvPr id="25" name="Texto"/>
          <p:cNvSpPr txBox="1"/>
          <p:nvPr/>
        </p:nvSpPr>
        <p:spPr>
          <a:xfrm>
            <a:off x="1408700" y="5657000"/>
            <a:ext cx="4396866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>
                <a:solidFill>
                  <a:srgbClr val="2C2C45"/>
                </a:solidFill>
                <a:latin typeface="Montserrat"/>
              </a:rPr>
              <a:t>Ônibus, navios e alagamentos de verdade, vindos de fontes públicas.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1408700" y="757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8B94"/>
                </a:solidFill>
                <a:latin typeface="Consolas"/>
              </a:rPr>
              <a:t>no projeto · AIS · OlhoVivo · CGESP</a:t>
            </a:r>
          </a:p>
        </p:txBody>
      </p:sp>
      <p:sp>
        <p:nvSpPr>
          <p:cNvPr id="27" name="Forma card borda"/>
          <p:cNvSpPr/>
          <p:nvPr/>
        </p:nvSpPr>
        <p:spPr>
          <a:xfrm>
            <a:off x="6565566" y="2557000"/>
            <a:ext cx="5156866" cy="5700000"/>
          </a:xfrm>
          <a:prstGeom prst="roundRect">
            <a:avLst>
              <a:gd name="adj" fmla="val 4432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rma card"/>
          <p:cNvSpPr/>
          <p:nvPr/>
        </p:nvSpPr>
        <p:spPr>
          <a:xfrm>
            <a:off x="6565566" y="2617000"/>
            <a:ext cx="5156866" cy="56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o"/>
          <p:cNvSpPr txBox="1"/>
          <p:nvPr/>
        </p:nvSpPr>
        <p:spPr>
          <a:xfrm>
            <a:off x="6945566" y="293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85BC7"/>
                </a:solidFill>
                <a:latin typeface="Consolas"/>
              </a:rPr>
              <a:t>VIRTUAL</a:t>
            </a:r>
          </a:p>
        </p:txBody>
      </p:sp>
      <p:sp>
        <p:nvSpPr>
          <p:cNvPr id="30" name="Texto"/>
          <p:cNvSpPr txBox="1"/>
          <p:nvPr/>
        </p:nvSpPr>
        <p:spPr>
          <a:xfrm>
            <a:off x="6945566" y="328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42B"/>
                </a:solidFill>
                <a:latin typeface="Montserrat"/>
              </a:rPr>
              <a:t>Pessoa real, sistema simulado</a:t>
            </a:r>
          </a:p>
        </p:txBody>
      </p:sp>
      <p:sp>
        <p:nvSpPr>
          <p:cNvPr id="31" name="Diagrama caixa"/>
          <p:cNvSpPr/>
          <p:nvPr/>
        </p:nvSpPr>
        <p:spPr>
          <a:xfrm>
            <a:off x="6945566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o"/>
          <p:cNvSpPr txBox="1"/>
          <p:nvPr/>
        </p:nvSpPr>
        <p:spPr>
          <a:xfrm>
            <a:off x="7105566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Pessoa</a:t>
            </a:r>
          </a:p>
          <a:p>
            <a:pPr algn="ctr"/>
            <a:r>
              <a:rPr sz="1500">
                <a:solidFill>
                  <a:srgbClr val="55546E"/>
                </a:solidFill>
                <a:latin typeface="Consolas"/>
              </a:rPr>
              <a:t>real</a:t>
            </a:r>
          </a:p>
        </p:txBody>
      </p:sp>
      <p:sp>
        <p:nvSpPr>
          <p:cNvPr id="33" name="Diagrama caixa"/>
          <p:cNvSpPr/>
          <p:nvPr/>
        </p:nvSpPr>
        <p:spPr>
          <a:xfrm>
            <a:off x="9493999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o"/>
          <p:cNvSpPr txBox="1"/>
          <p:nvPr/>
        </p:nvSpPr>
        <p:spPr>
          <a:xfrm>
            <a:off x="9653999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Sistema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simulado</a:t>
            </a:r>
          </a:p>
        </p:txBody>
      </p:sp>
      <p:cxnSp>
        <p:nvCxnSpPr>
          <p:cNvPr id="35" name="Diagrama seta"/>
          <p:cNvCxnSpPr/>
          <p:nvPr/>
        </p:nvCxnSpPr>
        <p:spPr>
          <a:xfrm>
            <a:off x="8823999" y="4707000"/>
            <a:ext cx="640000" cy="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o"/>
          <p:cNvSpPr txBox="1"/>
          <p:nvPr/>
        </p:nvSpPr>
        <p:spPr>
          <a:xfrm>
            <a:off x="8793999" y="4307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85BC7"/>
                </a:solidFill>
                <a:latin typeface="Consolas"/>
              </a:rPr>
              <a:t>opera</a:t>
            </a:r>
          </a:p>
        </p:txBody>
      </p:sp>
      <p:sp>
        <p:nvSpPr>
          <p:cNvPr id="37" name="Texto"/>
          <p:cNvSpPr txBox="1"/>
          <p:nvPr/>
        </p:nvSpPr>
        <p:spPr>
          <a:xfrm>
            <a:off x="6945566" y="5657000"/>
            <a:ext cx="4396866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>
                <a:solidFill>
                  <a:srgbClr val="2C2C45"/>
                </a:solidFill>
                <a:latin typeface="Montserrat"/>
              </a:rPr>
              <a:t>Um operador real injeta eventos no gêmeo digital do campus.</a:t>
            </a:r>
          </a:p>
        </p:txBody>
      </p:sp>
      <p:sp>
        <p:nvSpPr>
          <p:cNvPr id="38" name="Texto"/>
          <p:cNvSpPr txBox="1"/>
          <p:nvPr/>
        </p:nvSpPr>
        <p:spPr>
          <a:xfrm>
            <a:off x="6945566" y="757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85BC7"/>
                </a:solidFill>
                <a:latin typeface="Consolas"/>
              </a:rPr>
              <a:t>no projeto · virtual-ms-java · Vaadin</a:t>
            </a:r>
          </a:p>
        </p:txBody>
      </p:sp>
      <p:sp>
        <p:nvSpPr>
          <p:cNvPr id="39" name="Forma card borda"/>
          <p:cNvSpPr/>
          <p:nvPr/>
        </p:nvSpPr>
        <p:spPr>
          <a:xfrm>
            <a:off x="12102432" y="2557000"/>
            <a:ext cx="5156866" cy="5700000"/>
          </a:xfrm>
          <a:prstGeom prst="roundRect">
            <a:avLst>
              <a:gd name="adj" fmla="val 4432"/>
            </a:avLst>
          </a:prstGeom>
          <a:solidFill>
            <a:srgbClr val="C2660B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orma card"/>
          <p:cNvSpPr/>
          <p:nvPr/>
        </p:nvSpPr>
        <p:spPr>
          <a:xfrm>
            <a:off x="12102432" y="2617000"/>
            <a:ext cx="5156866" cy="56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12482432" y="293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2660B"/>
                </a:solidFill>
                <a:latin typeface="Consolas"/>
              </a:rPr>
              <a:t>CONSTRUCTIVE</a:t>
            </a:r>
          </a:p>
        </p:txBody>
      </p:sp>
      <p:sp>
        <p:nvSpPr>
          <p:cNvPr id="42" name="Texto"/>
          <p:cNvSpPr txBox="1"/>
          <p:nvPr/>
        </p:nvSpPr>
        <p:spPr>
          <a:xfrm>
            <a:off x="12482432" y="328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4142B"/>
                </a:solidFill>
                <a:latin typeface="Montserrat"/>
              </a:rPr>
              <a:t>Pessoa e sistema simulados</a:t>
            </a:r>
          </a:p>
        </p:txBody>
      </p:sp>
      <p:sp>
        <p:nvSpPr>
          <p:cNvPr id="43" name="Diagrama caixa"/>
          <p:cNvSpPr/>
          <p:nvPr/>
        </p:nvSpPr>
        <p:spPr>
          <a:xfrm>
            <a:off x="12482432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o"/>
          <p:cNvSpPr txBox="1"/>
          <p:nvPr/>
        </p:nvSpPr>
        <p:spPr>
          <a:xfrm>
            <a:off x="12642432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Pessoa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simulada</a:t>
            </a:r>
          </a:p>
        </p:txBody>
      </p:sp>
      <p:sp>
        <p:nvSpPr>
          <p:cNvPr id="45" name="Diagrama caixa"/>
          <p:cNvSpPr/>
          <p:nvPr/>
        </p:nvSpPr>
        <p:spPr>
          <a:xfrm>
            <a:off x="15030865" y="4157000"/>
            <a:ext cx="1848433" cy="1100000"/>
          </a:xfrm>
          <a:prstGeom prst="roundRect">
            <a:avLst>
              <a:gd name="adj" fmla="val 11818"/>
            </a:avLst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o"/>
          <p:cNvSpPr txBox="1"/>
          <p:nvPr/>
        </p:nvSpPr>
        <p:spPr>
          <a:xfrm>
            <a:off x="15190865" y="4157000"/>
            <a:ext cx="1528433" cy="11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Sistema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onsolas"/>
              </a:rPr>
              <a:t>simulado</a:t>
            </a:r>
          </a:p>
        </p:txBody>
      </p:sp>
      <p:cxnSp>
        <p:nvCxnSpPr>
          <p:cNvPr id="47" name="Diagrama seta"/>
          <p:cNvCxnSpPr/>
          <p:nvPr/>
        </p:nvCxnSpPr>
        <p:spPr>
          <a:xfrm>
            <a:off x="14360865" y="4707000"/>
            <a:ext cx="640000" cy="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o"/>
          <p:cNvSpPr txBox="1"/>
          <p:nvPr/>
        </p:nvSpPr>
        <p:spPr>
          <a:xfrm>
            <a:off x="14330865" y="4307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C2660B"/>
                </a:solidFill>
                <a:latin typeface="Consolas"/>
              </a:rPr>
              <a:t>opera</a:t>
            </a:r>
          </a:p>
        </p:txBody>
      </p:sp>
      <p:sp>
        <p:nvSpPr>
          <p:cNvPr id="49" name="Texto"/>
          <p:cNvSpPr txBox="1"/>
          <p:nvPr/>
        </p:nvSpPr>
        <p:spPr>
          <a:xfrm>
            <a:off x="12482432" y="5657000"/>
            <a:ext cx="4396866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>
                <a:solidFill>
                  <a:srgbClr val="2C2C45"/>
                </a:solidFill>
                <a:latin typeface="Montserrat"/>
              </a:rPr>
              <a:t>Um drone autônomo no AirSim, com missão planejada por LLM.</a:t>
            </a:r>
          </a:p>
        </p:txBody>
      </p:sp>
      <p:sp>
        <p:nvSpPr>
          <p:cNvPr id="50" name="Texto"/>
          <p:cNvSpPr txBox="1"/>
          <p:nvPr/>
        </p:nvSpPr>
        <p:spPr>
          <a:xfrm>
            <a:off x="12482432" y="757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60B"/>
                </a:solidFill>
                <a:latin typeface="Consolas"/>
              </a:rPr>
              <a:t>no projeto · constructive-ms-python</a:t>
            </a:r>
          </a:p>
        </p:txBody>
      </p:sp>
      <p:sp>
        <p:nvSpPr>
          <p:cNvPr id="51" name="Texto"/>
          <p:cNvSpPr txBox="1"/>
          <p:nvPr/>
        </p:nvSpPr>
        <p:spPr>
          <a:xfrm>
            <a:off x="1028700" y="8657000"/>
            <a:ext cx="16230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4142B"/>
                </a:solidFill>
                <a:latin typeface="Montserrat"/>
              </a:rPr>
              <a:t>Para os três conversarem, falta um formato de mensagem comum e um canal entre os serviços.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HLA exige RTI e FOM; DIS usa PDUs fixas.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1 · PROBLEMA · LACUNA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06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028700" y="1952000"/>
            <a:ext cx="7925300" cy="5150000"/>
          </a:xfrm>
          <a:prstGeom prst="roundRect">
            <a:avLst>
              <a:gd name="adj" fmla="val 4438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028700" y="2012000"/>
            <a:ext cx="7925300" cy="509000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1448700" y="2332000"/>
            <a:ext cx="708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85BC7"/>
                </a:solidFill>
                <a:latin typeface="Consolas"/>
              </a:rPr>
              <a:t>HLA · IEEE 1516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448700" y="2682000"/>
            <a:ext cx="708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2B"/>
                </a:solidFill>
                <a:latin typeface="Montserrat"/>
              </a:rPr>
              <a:t>RTI central + FOM + gestão de tempo</a:t>
            </a:r>
          </a:p>
        </p:txBody>
      </p:sp>
      <p:sp>
        <p:nvSpPr>
          <p:cNvPr id="15" name="Diagrama caixa"/>
          <p:cNvSpPr/>
          <p:nvPr/>
        </p:nvSpPr>
        <p:spPr>
          <a:xfrm>
            <a:off x="1448700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o"/>
          <p:cNvSpPr txBox="1"/>
          <p:nvPr/>
        </p:nvSpPr>
        <p:spPr>
          <a:xfrm>
            <a:off x="1608700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Live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federado</a:t>
            </a:r>
          </a:p>
        </p:txBody>
      </p:sp>
      <p:cxnSp>
        <p:nvCxnSpPr>
          <p:cNvPr id="17" name="Diagrama seta"/>
          <p:cNvCxnSpPr/>
          <p:nvPr/>
        </p:nvCxnSpPr>
        <p:spPr>
          <a:xfrm>
            <a:off x="2549583" y="4272000"/>
            <a:ext cx="0" cy="38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caixa"/>
          <p:cNvSpPr/>
          <p:nvPr/>
        </p:nvSpPr>
        <p:spPr>
          <a:xfrm>
            <a:off x="3890466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o"/>
          <p:cNvSpPr txBox="1"/>
          <p:nvPr/>
        </p:nvSpPr>
        <p:spPr>
          <a:xfrm>
            <a:off x="4050466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Virtual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federado</a:t>
            </a:r>
          </a:p>
        </p:txBody>
      </p:sp>
      <p:cxnSp>
        <p:nvCxnSpPr>
          <p:cNvPr id="20" name="Diagrama seta"/>
          <p:cNvCxnSpPr/>
          <p:nvPr/>
        </p:nvCxnSpPr>
        <p:spPr>
          <a:xfrm>
            <a:off x="4991349" y="4272000"/>
            <a:ext cx="0" cy="38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grama caixa"/>
          <p:cNvSpPr/>
          <p:nvPr/>
        </p:nvSpPr>
        <p:spPr>
          <a:xfrm>
            <a:off x="6332232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"/>
          <p:cNvSpPr txBox="1"/>
          <p:nvPr/>
        </p:nvSpPr>
        <p:spPr>
          <a:xfrm>
            <a:off x="6492232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Constructive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federado</a:t>
            </a:r>
          </a:p>
        </p:txBody>
      </p:sp>
      <p:cxnSp>
        <p:nvCxnSpPr>
          <p:cNvPr id="23" name="Diagrama seta"/>
          <p:cNvCxnSpPr/>
          <p:nvPr/>
        </p:nvCxnSpPr>
        <p:spPr>
          <a:xfrm>
            <a:off x="7433115" y="4272000"/>
            <a:ext cx="0" cy="38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caixa"/>
          <p:cNvSpPr/>
          <p:nvPr/>
        </p:nvSpPr>
        <p:spPr>
          <a:xfrm>
            <a:off x="1448700" y="4652000"/>
            <a:ext cx="7085300" cy="820000"/>
          </a:xfrm>
          <a:prstGeom prst="roundRect">
            <a:avLst>
              <a:gd name="adj" fmla="val 15853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o"/>
          <p:cNvSpPr txBox="1"/>
          <p:nvPr/>
        </p:nvSpPr>
        <p:spPr>
          <a:xfrm>
            <a:off x="1608700" y="4652000"/>
            <a:ext cx="67653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RTI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onsolas"/>
              </a:rPr>
              <a:t>você modela o FOM antes de simular</a:t>
            </a:r>
          </a:p>
        </p:txBody>
      </p:sp>
      <p:sp>
        <p:nvSpPr>
          <p:cNvPr id="26" name="Forma disco"/>
          <p:cNvSpPr/>
          <p:nvPr/>
        </p:nvSpPr>
        <p:spPr>
          <a:xfrm>
            <a:off x="1448700" y="5822000"/>
            <a:ext cx="360000" cy="360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27" name="Texto"/>
          <p:cNvSpPr txBox="1"/>
          <p:nvPr/>
        </p:nvSpPr>
        <p:spPr>
          <a:xfrm>
            <a:off x="1968700" y="5802000"/>
            <a:ext cx="65653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Padrão IEEE consolidado</a:t>
            </a:r>
          </a:p>
        </p:txBody>
      </p:sp>
      <p:sp>
        <p:nvSpPr>
          <p:cNvPr id="28" name="Forma disco"/>
          <p:cNvSpPr/>
          <p:nvPr/>
        </p:nvSpPr>
        <p:spPr>
          <a:xfrm>
            <a:off x="1448700" y="6342000"/>
            <a:ext cx="360000" cy="360000"/>
          </a:xfrm>
          <a:prstGeom prst="ellipse">
            <a:avLst/>
          </a:prstGeom>
          <a:solidFill>
            <a:srgbClr val="C0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−</a:t>
            </a:r>
          </a:p>
        </p:txBody>
      </p:sp>
      <p:sp>
        <p:nvSpPr>
          <p:cNvPr id="29" name="Texto"/>
          <p:cNvSpPr txBox="1"/>
          <p:nvPr/>
        </p:nvSpPr>
        <p:spPr>
          <a:xfrm>
            <a:off x="1968700" y="6322000"/>
            <a:ext cx="65653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42B"/>
                </a:solidFill>
                <a:latin typeface="Montserrat"/>
              </a:rPr>
              <a:t>Exige modelar o FOM e operar uma RTI</a:t>
            </a:r>
          </a:p>
        </p:txBody>
      </p:sp>
      <p:sp>
        <p:nvSpPr>
          <p:cNvPr id="30" name="Forma card borda"/>
          <p:cNvSpPr/>
          <p:nvPr/>
        </p:nvSpPr>
        <p:spPr>
          <a:xfrm>
            <a:off x="9334000" y="1952000"/>
            <a:ext cx="7925300" cy="5150000"/>
          </a:xfrm>
          <a:prstGeom prst="roundRect">
            <a:avLst>
              <a:gd name="adj" fmla="val 4438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orma card"/>
          <p:cNvSpPr/>
          <p:nvPr/>
        </p:nvSpPr>
        <p:spPr>
          <a:xfrm>
            <a:off x="9334000" y="2012000"/>
            <a:ext cx="7925300" cy="509000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o"/>
          <p:cNvSpPr txBox="1"/>
          <p:nvPr/>
        </p:nvSpPr>
        <p:spPr>
          <a:xfrm>
            <a:off x="9754000" y="2332000"/>
            <a:ext cx="708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85BC7"/>
                </a:solidFill>
                <a:latin typeface="Consolas"/>
              </a:rPr>
              <a:t>DIS · IEEE 1278</a:t>
            </a:r>
          </a:p>
        </p:txBody>
      </p:sp>
      <p:sp>
        <p:nvSpPr>
          <p:cNvPr id="33" name="Texto"/>
          <p:cNvSpPr txBox="1"/>
          <p:nvPr/>
        </p:nvSpPr>
        <p:spPr>
          <a:xfrm>
            <a:off x="9754000" y="2682000"/>
            <a:ext cx="708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2B"/>
                </a:solidFill>
                <a:latin typeface="Montserrat"/>
              </a:rPr>
              <a:t>PDUs fixas em broadcast, sem RTI</a:t>
            </a:r>
          </a:p>
        </p:txBody>
      </p:sp>
      <p:sp>
        <p:nvSpPr>
          <p:cNvPr id="34" name="Diagrama caixa"/>
          <p:cNvSpPr/>
          <p:nvPr/>
        </p:nvSpPr>
        <p:spPr>
          <a:xfrm>
            <a:off x="9754000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o"/>
          <p:cNvSpPr txBox="1"/>
          <p:nvPr/>
        </p:nvSpPr>
        <p:spPr>
          <a:xfrm>
            <a:off x="9914000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Live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simulador</a:t>
            </a:r>
          </a:p>
        </p:txBody>
      </p:sp>
      <p:cxnSp>
        <p:nvCxnSpPr>
          <p:cNvPr id="36" name="Diagrama linha"/>
          <p:cNvCxnSpPr/>
          <p:nvPr/>
        </p:nvCxnSpPr>
        <p:spPr>
          <a:xfrm>
            <a:off x="10854883" y="4272000"/>
            <a:ext cx="0" cy="380000"/>
          </a:xfrm>
          <a:prstGeom prst="line">
            <a:avLst/>
          </a:prstGeom>
          <a:ln w="38100" cap="rnd">
            <a:solidFill>
              <a:srgbClr val="3D3A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caixa"/>
          <p:cNvSpPr/>
          <p:nvPr/>
        </p:nvSpPr>
        <p:spPr>
          <a:xfrm>
            <a:off x="12195766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o"/>
          <p:cNvSpPr txBox="1"/>
          <p:nvPr/>
        </p:nvSpPr>
        <p:spPr>
          <a:xfrm>
            <a:off x="12355766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Virtual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simulador</a:t>
            </a:r>
          </a:p>
        </p:txBody>
      </p:sp>
      <p:cxnSp>
        <p:nvCxnSpPr>
          <p:cNvPr id="39" name="Diagrama linha"/>
          <p:cNvCxnSpPr/>
          <p:nvPr/>
        </p:nvCxnSpPr>
        <p:spPr>
          <a:xfrm>
            <a:off x="13296649" y="4272000"/>
            <a:ext cx="0" cy="380000"/>
          </a:xfrm>
          <a:prstGeom prst="line">
            <a:avLst/>
          </a:prstGeom>
          <a:ln w="38100" cap="rnd">
            <a:solidFill>
              <a:srgbClr val="3D3A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caixa"/>
          <p:cNvSpPr/>
          <p:nvPr/>
        </p:nvSpPr>
        <p:spPr>
          <a:xfrm>
            <a:off x="14637532" y="3452000"/>
            <a:ext cx="2201766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14797532" y="3452000"/>
            <a:ext cx="1881766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4142B"/>
                </a:solidFill>
                <a:latin typeface="Montserrat"/>
              </a:rPr>
              <a:t>Constructive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simulador</a:t>
            </a:r>
          </a:p>
        </p:txBody>
      </p:sp>
      <p:cxnSp>
        <p:nvCxnSpPr>
          <p:cNvPr id="42" name="Diagrama linha"/>
          <p:cNvCxnSpPr/>
          <p:nvPr/>
        </p:nvCxnSpPr>
        <p:spPr>
          <a:xfrm>
            <a:off x="15738415" y="4272000"/>
            <a:ext cx="0" cy="380000"/>
          </a:xfrm>
          <a:prstGeom prst="line">
            <a:avLst/>
          </a:prstGeom>
          <a:ln w="38100" cap="rnd">
            <a:solidFill>
              <a:srgbClr val="3D3A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grama caixa"/>
          <p:cNvSpPr/>
          <p:nvPr/>
        </p:nvSpPr>
        <p:spPr>
          <a:xfrm>
            <a:off x="9754000" y="4652000"/>
            <a:ext cx="7085300" cy="820000"/>
          </a:xfrm>
          <a:prstGeom prst="roundRect">
            <a:avLst>
              <a:gd name="adj" fmla="val 15853"/>
            </a:avLst>
          </a:prstGeom>
          <a:solidFill>
            <a:srgbClr val="FFFFFF"/>
          </a:solidFill>
          <a:ln w="19050">
            <a:solidFill>
              <a:srgbClr val="3D3A5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o"/>
          <p:cNvSpPr txBox="1"/>
          <p:nvPr/>
        </p:nvSpPr>
        <p:spPr>
          <a:xfrm>
            <a:off x="9914000" y="4652000"/>
            <a:ext cx="67653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3D3A5C"/>
                </a:solidFill>
                <a:latin typeface="Montserrat"/>
              </a:rPr>
              <a:t>Rede · PDUs em broadcast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sem coordenador, formato fixo</a:t>
            </a:r>
          </a:p>
        </p:txBody>
      </p:sp>
      <p:sp>
        <p:nvSpPr>
          <p:cNvPr id="45" name="Forma disco"/>
          <p:cNvSpPr/>
          <p:nvPr/>
        </p:nvSpPr>
        <p:spPr>
          <a:xfrm>
            <a:off x="9754000" y="5822000"/>
            <a:ext cx="360000" cy="360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46" name="Texto"/>
          <p:cNvSpPr txBox="1"/>
          <p:nvPr/>
        </p:nvSpPr>
        <p:spPr>
          <a:xfrm>
            <a:off x="10274000" y="5802000"/>
            <a:ext cx="65653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Simples de ligar</a:t>
            </a:r>
          </a:p>
        </p:txBody>
      </p:sp>
      <p:sp>
        <p:nvSpPr>
          <p:cNvPr id="47" name="Forma disco"/>
          <p:cNvSpPr/>
          <p:nvPr/>
        </p:nvSpPr>
        <p:spPr>
          <a:xfrm>
            <a:off x="9754000" y="6342000"/>
            <a:ext cx="360000" cy="360000"/>
          </a:xfrm>
          <a:prstGeom prst="ellipse">
            <a:avLst/>
          </a:prstGeom>
          <a:solidFill>
            <a:srgbClr val="C0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−</a:t>
            </a:r>
          </a:p>
        </p:txBody>
      </p:sp>
      <p:sp>
        <p:nvSpPr>
          <p:cNvPr id="48" name="Texto"/>
          <p:cNvSpPr txBox="1"/>
          <p:nvPr/>
        </p:nvSpPr>
        <p:spPr>
          <a:xfrm>
            <a:off x="10274000" y="6322000"/>
            <a:ext cx="65653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42B"/>
                </a:solidFill>
                <a:latin typeface="Montserrat"/>
              </a:rPr>
              <a:t>Modelo de dados rígido, nascido na defesa</a:t>
            </a:r>
          </a:p>
        </p:txBody>
      </p:sp>
      <p:sp>
        <p:nvSpPr>
          <p:cNvPr id="49" name="Forma faixa"/>
          <p:cNvSpPr/>
          <p:nvPr/>
        </p:nvSpPr>
        <p:spPr>
          <a:xfrm>
            <a:off x="1028700" y="7482000"/>
            <a:ext cx="16230600" cy="96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o"/>
          <p:cNvSpPr txBox="1"/>
          <p:nvPr/>
        </p:nvSpPr>
        <p:spPr>
          <a:xfrm>
            <a:off x="1528700" y="7482000"/>
            <a:ext cx="15230600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onsolas"/>
              </a:rPr>
              <a:t>PERGUNTA   </a:t>
            </a:r>
            <a:r>
              <a:rPr sz="2100" b="1">
                <a:solidFill>
                  <a:srgbClr val="FFFFFF"/>
                </a:solidFill>
                <a:latin typeface="Montserrat"/>
              </a:rPr>
              <a:t>Dá para integrar LVC numa arquitetura aberta, rastreável e reproduzível?</a:t>
            </a:r>
          </a:p>
        </p:txBody>
      </p:sp>
      <p:sp>
        <p:nvSpPr>
          <p:cNvPr id="51" name="Texto"/>
          <p:cNvSpPr txBox="1"/>
          <p:nvPr/>
        </p:nvSpPr>
        <p:spPr>
          <a:xfrm>
            <a:off x="1028700" y="8582000"/>
            <a:ext cx="162306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0408F"/>
                </a:solidFill>
                <a:latin typeface="Montserrat"/>
              </a:rPr>
              <a:t>Lacuna · </a:t>
            </a:r>
            <a:r>
              <a:rPr sz="1600">
                <a:solidFill>
                  <a:srgbClr val="3D3A5C"/>
                </a:solidFill>
                <a:latin typeface="Montserrat"/>
              </a:rPr>
              <a:t>Mazzetto (2024): gêmeos urbanos esbarram em barreiras de integração e pedem padrões comuns.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PARTE 02 DE 04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07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028700" y="19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PARTE 02</a:t>
            </a:r>
          </a:p>
        </p:txBody>
      </p:sp>
      <p:sp>
        <p:nvSpPr>
          <p:cNvPr id="11" name="Progresso"/>
          <p:cNvSpPr/>
          <p:nvPr/>
        </p:nvSpPr>
        <p:spPr>
          <a:xfrm>
            <a:off x="29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o"/>
          <p:cNvSpPr/>
          <p:nvPr/>
        </p:nvSpPr>
        <p:spPr>
          <a:xfrm>
            <a:off x="39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o"/>
          <p:cNvSpPr/>
          <p:nvPr/>
        </p:nvSpPr>
        <p:spPr>
          <a:xfrm>
            <a:off x="50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gresso"/>
          <p:cNvSpPr/>
          <p:nvPr/>
        </p:nvSpPr>
        <p:spPr>
          <a:xfrm>
            <a:off x="60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"/>
          <p:cNvSpPr txBox="1"/>
          <p:nvPr/>
        </p:nvSpPr>
        <p:spPr>
          <a:xfrm>
            <a:off x="7248700" y="1900000"/>
            <a:ext cx="1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546E"/>
                </a:solidFill>
                <a:latin typeface="Consolas"/>
              </a:rPr>
              <a:t>DE 04</a:t>
            </a:r>
          </a:p>
        </p:txBody>
      </p:sp>
      <p:sp>
        <p:nvSpPr>
          <p:cNvPr id="16" name="Numeral decorativo"/>
          <p:cNvSpPr txBox="1"/>
          <p:nvPr/>
        </p:nvSpPr>
        <p:spPr>
          <a:xfrm>
            <a:off x="878700" y="2730000"/>
            <a:ext cx="8000000" cy="5900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0" b="1">
                <a:solidFill>
                  <a:srgbClr val="E1DAF6"/>
                </a:solidFill>
                <a:latin typeface="Montserrat"/>
              </a:rPr>
              <a:t>02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8900000" y="4931728"/>
            <a:ext cx="835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PRÓXIMA SEÇÃO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8900000" y="5411728"/>
            <a:ext cx="8350000" cy="89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14142B"/>
                </a:solidFill>
                <a:latin typeface="Montserrat"/>
              </a:rPr>
              <a:t>Arquitetura proposta</a:t>
            </a:r>
          </a:p>
        </p:txBody>
      </p:sp>
      <p:sp>
        <p:nvSpPr>
          <p:cNvPr id="19" name="Acento"/>
          <p:cNvSpPr/>
          <p:nvPr/>
        </p:nvSpPr>
        <p:spPr>
          <a:xfrm>
            <a:off x="8900000" y="6588272"/>
            <a:ext cx="110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Event Sourcing, CQRS e um .proto único.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FUNDAMENTOS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08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1028700" y="2067000"/>
            <a:ext cx="16230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>
                <a:solidFill>
                  <a:srgbClr val="2C2C45"/>
                </a:solidFill>
                <a:latin typeface="Montserrat"/>
              </a:rPr>
              <a:t>Sistemas LVC são </a:t>
            </a:r>
            <a:r>
              <a:rPr sz="2100" b="1">
                <a:solidFill>
                  <a:srgbClr val="685BC7"/>
                </a:solidFill>
                <a:latin typeface="Montserrat"/>
              </a:rPr>
              <a:t>reativos por natureza</a:t>
            </a:r>
            <a:r>
              <a:rPr sz="2100">
                <a:solidFill>
                  <a:srgbClr val="2C2C45"/>
                </a:solidFill>
                <a:latin typeface="Montserrat"/>
              </a:rPr>
              <a:t>: navios, ônibus, alertas, missões.</a:t>
            </a:r>
          </a:p>
        </p:txBody>
      </p:sp>
      <p:sp>
        <p:nvSpPr>
          <p:cNvPr id="12" name="Forma card borda"/>
          <p:cNvSpPr/>
          <p:nvPr/>
        </p:nvSpPr>
        <p:spPr>
          <a:xfrm>
            <a:off x="1028700" y="2847000"/>
            <a:ext cx="5156866" cy="6000000"/>
          </a:xfrm>
          <a:prstGeom prst="roundRect">
            <a:avLst>
              <a:gd name="adj" fmla="val 4432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rma card"/>
          <p:cNvSpPr/>
          <p:nvPr/>
        </p:nvSpPr>
        <p:spPr>
          <a:xfrm>
            <a:off x="1028700" y="2907000"/>
            <a:ext cx="5156866" cy="59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"/>
          <p:cNvSpPr txBox="1"/>
          <p:nvPr/>
        </p:nvSpPr>
        <p:spPr>
          <a:xfrm>
            <a:off x="1408700" y="322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85BC7"/>
                </a:solidFill>
                <a:latin typeface="Consolas"/>
              </a:rPr>
              <a:t>EVENT SOURCING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1408700" y="357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142B"/>
                </a:solidFill>
                <a:latin typeface="Montserrat"/>
              </a:rPr>
              <a:t>Estado reconstruído por replay</a:t>
            </a:r>
          </a:p>
        </p:txBody>
      </p:sp>
      <p:sp>
        <p:nvSpPr>
          <p:cNvPr id="16" name="Forma log"/>
          <p:cNvSpPr/>
          <p:nvPr/>
        </p:nvSpPr>
        <p:spPr>
          <a:xfrm>
            <a:off x="1408700" y="4447000"/>
            <a:ext cx="4396866" cy="760000"/>
          </a:xfrm>
          <a:prstGeom prst="roundRect">
            <a:avLst>
              <a:gd name="adj" fmla="val 50000"/>
            </a:avLst>
          </a:prstGeom>
          <a:solidFill>
            <a:srgbClr val="EE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orma evento"/>
          <p:cNvSpPr/>
          <p:nvPr/>
        </p:nvSpPr>
        <p:spPr>
          <a:xfrm>
            <a:off x="1528700" y="4577000"/>
            <a:ext cx="949216" cy="5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"/>
          <p:cNvSpPr txBox="1"/>
          <p:nvPr/>
        </p:nvSpPr>
        <p:spPr>
          <a:xfrm>
            <a:off x="1528700" y="4577000"/>
            <a:ext cx="949216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5BC7"/>
                </a:solidFill>
                <a:latin typeface="Consolas"/>
              </a:rPr>
              <a:t>e₁</a:t>
            </a:r>
          </a:p>
        </p:txBody>
      </p:sp>
      <p:sp>
        <p:nvSpPr>
          <p:cNvPr id="19" name="Forma evento"/>
          <p:cNvSpPr/>
          <p:nvPr/>
        </p:nvSpPr>
        <p:spPr>
          <a:xfrm>
            <a:off x="2597916" y="4577000"/>
            <a:ext cx="949216" cy="5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o"/>
          <p:cNvSpPr txBox="1"/>
          <p:nvPr/>
        </p:nvSpPr>
        <p:spPr>
          <a:xfrm>
            <a:off x="2597916" y="4577000"/>
            <a:ext cx="949216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5BC7"/>
                </a:solidFill>
                <a:latin typeface="Consolas"/>
              </a:rPr>
              <a:t>e₂</a:t>
            </a:r>
          </a:p>
        </p:txBody>
      </p:sp>
      <p:sp>
        <p:nvSpPr>
          <p:cNvPr id="21" name="Forma evento"/>
          <p:cNvSpPr/>
          <p:nvPr/>
        </p:nvSpPr>
        <p:spPr>
          <a:xfrm>
            <a:off x="3667132" y="4577000"/>
            <a:ext cx="949216" cy="5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"/>
          <p:cNvSpPr txBox="1"/>
          <p:nvPr/>
        </p:nvSpPr>
        <p:spPr>
          <a:xfrm>
            <a:off x="3667132" y="4577000"/>
            <a:ext cx="949216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5BC7"/>
                </a:solidFill>
                <a:latin typeface="Consolas"/>
              </a:rPr>
              <a:t>e₃</a:t>
            </a:r>
          </a:p>
        </p:txBody>
      </p:sp>
      <p:sp>
        <p:nvSpPr>
          <p:cNvPr id="23" name="Forma evento"/>
          <p:cNvSpPr/>
          <p:nvPr/>
        </p:nvSpPr>
        <p:spPr>
          <a:xfrm>
            <a:off x="4736348" y="4577000"/>
            <a:ext cx="949216" cy="5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o"/>
          <p:cNvSpPr txBox="1"/>
          <p:nvPr/>
        </p:nvSpPr>
        <p:spPr>
          <a:xfrm>
            <a:off x="4736348" y="4577000"/>
            <a:ext cx="949216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5BC7"/>
                </a:solidFill>
                <a:latin typeface="Consolas"/>
              </a:rPr>
              <a:t>eₙ</a:t>
            </a:r>
          </a:p>
        </p:txBody>
      </p:sp>
      <p:sp>
        <p:nvSpPr>
          <p:cNvPr id="25" name="Texto"/>
          <p:cNvSpPr txBox="1"/>
          <p:nvPr/>
        </p:nvSpPr>
        <p:spPr>
          <a:xfrm>
            <a:off x="1408700" y="5247000"/>
            <a:ext cx="4396866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log imutável, só acrescenta →</a:t>
            </a:r>
          </a:p>
        </p:txBody>
      </p:sp>
      <p:cxnSp>
        <p:nvCxnSpPr>
          <p:cNvPr id="26" name="Diagrama seta"/>
          <p:cNvCxnSpPr/>
          <p:nvPr/>
        </p:nvCxnSpPr>
        <p:spPr>
          <a:xfrm>
            <a:off x="3607133" y="5527000"/>
            <a:ext cx="0" cy="48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o"/>
          <p:cNvSpPr txBox="1"/>
          <p:nvPr/>
        </p:nvSpPr>
        <p:spPr>
          <a:xfrm>
            <a:off x="3767133" y="5627000"/>
            <a:ext cx="1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85BC7"/>
                </a:solidFill>
                <a:latin typeface="Consolas"/>
              </a:rPr>
              <a:t>replay</a:t>
            </a:r>
          </a:p>
        </p:txBody>
      </p:sp>
      <p:sp>
        <p:nvSpPr>
          <p:cNvPr id="28" name="Diagrama caixa"/>
          <p:cNvSpPr/>
          <p:nvPr/>
        </p:nvSpPr>
        <p:spPr>
          <a:xfrm>
            <a:off x="1658700" y="6047000"/>
            <a:ext cx="3896866" cy="720000"/>
          </a:xfrm>
          <a:prstGeom prst="roundRect">
            <a:avLst>
              <a:gd name="adj" fmla="val 18055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o"/>
          <p:cNvSpPr txBox="1"/>
          <p:nvPr/>
        </p:nvSpPr>
        <p:spPr>
          <a:xfrm>
            <a:off x="1818700" y="6047000"/>
            <a:ext cx="3576866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Estado = Σ eventos</a:t>
            </a:r>
          </a:p>
        </p:txBody>
      </p:sp>
      <p:sp>
        <p:nvSpPr>
          <p:cNvPr id="30" name="Texto"/>
          <p:cNvSpPr txBox="1"/>
          <p:nvPr/>
        </p:nvSpPr>
        <p:spPr>
          <a:xfrm>
            <a:off x="1408700" y="7247000"/>
            <a:ext cx="4396866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Cada mudança vira um evento imutável; o replay reconstrói qualquer instante.</a:t>
            </a:r>
          </a:p>
        </p:txBody>
      </p:sp>
      <p:sp>
        <p:nvSpPr>
          <p:cNvPr id="31" name="Forma card borda"/>
          <p:cNvSpPr/>
          <p:nvPr/>
        </p:nvSpPr>
        <p:spPr>
          <a:xfrm>
            <a:off x="6565566" y="2847000"/>
            <a:ext cx="5156866" cy="6000000"/>
          </a:xfrm>
          <a:prstGeom prst="roundRect">
            <a:avLst>
              <a:gd name="adj" fmla="val 4432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orma card"/>
          <p:cNvSpPr/>
          <p:nvPr/>
        </p:nvSpPr>
        <p:spPr>
          <a:xfrm>
            <a:off x="6565566" y="2907000"/>
            <a:ext cx="5156866" cy="59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o"/>
          <p:cNvSpPr txBox="1"/>
          <p:nvPr/>
        </p:nvSpPr>
        <p:spPr>
          <a:xfrm>
            <a:off x="6945566" y="322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8B94"/>
                </a:solidFill>
                <a:latin typeface="Consolas"/>
              </a:rPr>
              <a:t>CQRS</a:t>
            </a:r>
          </a:p>
        </p:txBody>
      </p:sp>
      <p:sp>
        <p:nvSpPr>
          <p:cNvPr id="34" name="Texto"/>
          <p:cNvSpPr txBox="1"/>
          <p:nvPr/>
        </p:nvSpPr>
        <p:spPr>
          <a:xfrm>
            <a:off x="6945566" y="357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4142B"/>
                </a:solidFill>
                <a:latin typeface="Montserrat"/>
              </a:rPr>
              <a:t>Escrita separada da leitura</a:t>
            </a:r>
          </a:p>
        </p:txBody>
      </p:sp>
      <p:sp>
        <p:nvSpPr>
          <p:cNvPr id="35" name="Diagrama caixa"/>
          <p:cNvSpPr/>
          <p:nvPr/>
        </p:nvSpPr>
        <p:spPr>
          <a:xfrm>
            <a:off x="8093999" y="4447000"/>
            <a:ext cx="2100000" cy="640000"/>
          </a:xfrm>
          <a:prstGeom prst="roundRect">
            <a:avLst>
              <a:gd name="adj" fmla="val 20312"/>
            </a:avLst>
          </a:prstGeom>
          <a:solidFill>
            <a:srgbClr val="E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o"/>
          <p:cNvSpPr txBox="1"/>
          <p:nvPr/>
        </p:nvSpPr>
        <p:spPr>
          <a:xfrm>
            <a:off x="8253999" y="4447000"/>
            <a:ext cx="178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Evento</a:t>
            </a:r>
          </a:p>
        </p:txBody>
      </p:sp>
      <p:cxnSp>
        <p:nvCxnSpPr>
          <p:cNvPr id="37" name="Diagrama seta"/>
          <p:cNvCxnSpPr/>
          <p:nvPr/>
        </p:nvCxnSpPr>
        <p:spPr>
          <a:xfrm flipH="1">
            <a:off x="7969782" y="5087000"/>
            <a:ext cx="1174217" cy="860000"/>
          </a:xfrm>
          <a:prstGeom prst="line">
            <a:avLst/>
          </a:prstGeom>
          <a:ln w="38100" cap="rnd">
            <a:solidFill>
              <a:srgbClr val="0F8B9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grama caixa"/>
          <p:cNvSpPr/>
          <p:nvPr/>
        </p:nvSpPr>
        <p:spPr>
          <a:xfrm>
            <a:off x="6945566" y="5967000"/>
            <a:ext cx="2048433" cy="800000"/>
          </a:xfrm>
          <a:prstGeom prst="roundRect">
            <a:avLst>
              <a:gd name="adj" fmla="val 16250"/>
            </a:avLst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o"/>
          <p:cNvSpPr txBox="1"/>
          <p:nvPr/>
        </p:nvSpPr>
        <p:spPr>
          <a:xfrm>
            <a:off x="7105566" y="5967000"/>
            <a:ext cx="1728433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Escrita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onsolas"/>
              </a:rPr>
              <a:t>MariaDB · InfluxDB</a:t>
            </a:r>
          </a:p>
        </p:txBody>
      </p:sp>
      <p:cxnSp>
        <p:nvCxnSpPr>
          <p:cNvPr id="40" name="Diagrama seta"/>
          <p:cNvCxnSpPr/>
          <p:nvPr/>
        </p:nvCxnSpPr>
        <p:spPr>
          <a:xfrm>
            <a:off x="9143999" y="5087000"/>
            <a:ext cx="1174216" cy="860000"/>
          </a:xfrm>
          <a:prstGeom prst="line">
            <a:avLst/>
          </a:prstGeom>
          <a:ln w="38100" cap="rnd">
            <a:solidFill>
              <a:srgbClr val="0F8B9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grama caixa"/>
          <p:cNvSpPr/>
          <p:nvPr/>
        </p:nvSpPr>
        <p:spPr>
          <a:xfrm>
            <a:off x="9293999" y="5967000"/>
            <a:ext cx="2048433" cy="80000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o"/>
          <p:cNvSpPr txBox="1"/>
          <p:nvPr/>
        </p:nvSpPr>
        <p:spPr>
          <a:xfrm>
            <a:off x="9453999" y="5967000"/>
            <a:ext cx="1728433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Leitura</a:t>
            </a:r>
          </a:p>
          <a:p>
            <a:pPr algn="ctr"/>
            <a:r>
              <a:rPr sz="1200">
                <a:solidFill>
                  <a:srgbClr val="55546E"/>
                </a:solidFill>
                <a:latin typeface="Consolas"/>
              </a:rPr>
              <a:t>projeções</a:t>
            </a:r>
          </a:p>
        </p:txBody>
      </p:sp>
      <p:sp>
        <p:nvSpPr>
          <p:cNvPr id="43" name="Texto"/>
          <p:cNvSpPr txBox="1"/>
          <p:nvPr/>
        </p:nvSpPr>
        <p:spPr>
          <a:xfrm>
            <a:off x="6945566" y="7247000"/>
            <a:ext cx="4396866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Escrita de alta frequência separada das projeções que servem os dashboards.</a:t>
            </a:r>
          </a:p>
        </p:txBody>
      </p:sp>
      <p:sp>
        <p:nvSpPr>
          <p:cNvPr id="44" name="Forma card borda"/>
          <p:cNvSpPr/>
          <p:nvPr/>
        </p:nvSpPr>
        <p:spPr>
          <a:xfrm>
            <a:off x="12102432" y="2847000"/>
            <a:ext cx="5156866" cy="6000000"/>
          </a:xfrm>
          <a:prstGeom prst="roundRect">
            <a:avLst>
              <a:gd name="adj" fmla="val 4432"/>
            </a:avLst>
          </a:prstGeom>
          <a:solidFill>
            <a:srgbClr val="C2660B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orma card"/>
          <p:cNvSpPr/>
          <p:nvPr/>
        </p:nvSpPr>
        <p:spPr>
          <a:xfrm>
            <a:off x="12102432" y="2907000"/>
            <a:ext cx="5156866" cy="59400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o"/>
          <p:cNvSpPr txBox="1"/>
          <p:nvPr/>
        </p:nvSpPr>
        <p:spPr>
          <a:xfrm>
            <a:off x="12482432" y="3227000"/>
            <a:ext cx="439686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60B"/>
                </a:solidFill>
                <a:latin typeface="Consolas"/>
              </a:rPr>
              <a:t>CONTRATO CANÔNICO</a:t>
            </a:r>
          </a:p>
        </p:txBody>
      </p:sp>
      <p:sp>
        <p:nvSpPr>
          <p:cNvPr id="47" name="Texto"/>
          <p:cNvSpPr txBox="1"/>
          <p:nvPr/>
        </p:nvSpPr>
        <p:spPr>
          <a:xfrm>
            <a:off x="12482432" y="3577000"/>
            <a:ext cx="4396866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Um .proto, 3 linguagens</a:t>
            </a:r>
          </a:p>
        </p:txBody>
      </p:sp>
      <p:sp>
        <p:nvSpPr>
          <p:cNvPr id="48" name="Diagrama caixa"/>
          <p:cNvSpPr/>
          <p:nvPr/>
        </p:nvSpPr>
        <p:spPr>
          <a:xfrm>
            <a:off x="13430865" y="4447000"/>
            <a:ext cx="2500000" cy="640000"/>
          </a:xfrm>
          <a:prstGeom prst="roundRect">
            <a:avLst>
              <a:gd name="adj" fmla="val 20312"/>
            </a:avLst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o"/>
          <p:cNvSpPr txBox="1"/>
          <p:nvPr/>
        </p:nvSpPr>
        <p:spPr>
          <a:xfrm>
            <a:off x="13590865" y="4447000"/>
            <a:ext cx="2180000" cy="6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schema.proto</a:t>
            </a:r>
          </a:p>
        </p:txBody>
      </p:sp>
      <p:cxnSp>
        <p:nvCxnSpPr>
          <p:cNvPr id="50" name="Diagrama seta"/>
          <p:cNvCxnSpPr/>
          <p:nvPr/>
        </p:nvCxnSpPr>
        <p:spPr>
          <a:xfrm flipH="1">
            <a:off x="13155243" y="5087000"/>
            <a:ext cx="1525622" cy="86000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grama caixa"/>
          <p:cNvSpPr/>
          <p:nvPr/>
        </p:nvSpPr>
        <p:spPr>
          <a:xfrm>
            <a:off x="12482432" y="5967000"/>
            <a:ext cx="1345622" cy="700000"/>
          </a:xfrm>
          <a:prstGeom prst="roundRect">
            <a:avLst>
              <a:gd name="adj" fmla="val 18571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o"/>
          <p:cNvSpPr txBox="1"/>
          <p:nvPr/>
        </p:nvSpPr>
        <p:spPr>
          <a:xfrm>
            <a:off x="12642432" y="5967000"/>
            <a:ext cx="1025622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Java</a:t>
            </a:r>
          </a:p>
        </p:txBody>
      </p:sp>
      <p:cxnSp>
        <p:nvCxnSpPr>
          <p:cNvPr id="53" name="Diagrama seta"/>
          <p:cNvCxnSpPr/>
          <p:nvPr/>
        </p:nvCxnSpPr>
        <p:spPr>
          <a:xfrm>
            <a:off x="14680865" y="5087000"/>
            <a:ext cx="0" cy="86000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grama caixa"/>
          <p:cNvSpPr/>
          <p:nvPr/>
        </p:nvSpPr>
        <p:spPr>
          <a:xfrm>
            <a:off x="14008054" y="5967000"/>
            <a:ext cx="1345622" cy="700000"/>
          </a:xfrm>
          <a:prstGeom prst="roundRect">
            <a:avLst>
              <a:gd name="adj" fmla="val 18571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o"/>
          <p:cNvSpPr txBox="1"/>
          <p:nvPr/>
        </p:nvSpPr>
        <p:spPr>
          <a:xfrm>
            <a:off x="14168054" y="5967000"/>
            <a:ext cx="1025622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Python</a:t>
            </a:r>
          </a:p>
        </p:txBody>
      </p:sp>
      <p:cxnSp>
        <p:nvCxnSpPr>
          <p:cNvPr id="56" name="Diagrama seta"/>
          <p:cNvCxnSpPr/>
          <p:nvPr/>
        </p:nvCxnSpPr>
        <p:spPr>
          <a:xfrm>
            <a:off x="14680865" y="5087000"/>
            <a:ext cx="1525622" cy="86000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iagrama caixa"/>
          <p:cNvSpPr/>
          <p:nvPr/>
        </p:nvSpPr>
        <p:spPr>
          <a:xfrm>
            <a:off x="15533676" y="5967000"/>
            <a:ext cx="1345622" cy="700000"/>
          </a:xfrm>
          <a:prstGeom prst="roundRect">
            <a:avLst>
              <a:gd name="adj" fmla="val 18571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o"/>
          <p:cNvSpPr txBox="1"/>
          <p:nvPr/>
        </p:nvSpPr>
        <p:spPr>
          <a:xfrm>
            <a:off x="15693676" y="5967000"/>
            <a:ext cx="1025622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Rust</a:t>
            </a:r>
          </a:p>
        </p:txBody>
      </p:sp>
      <p:sp>
        <p:nvSpPr>
          <p:cNvPr id="59" name="Texto"/>
          <p:cNvSpPr txBox="1"/>
          <p:nvPr/>
        </p:nvSpPr>
        <p:spPr>
          <a:xfrm>
            <a:off x="12482432" y="7247000"/>
            <a:ext cx="4396866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O proto-shared gera os stubs de Java, Python e Rust a partir de um arquivo.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Ingestão: três serviços publicam via gRPC no .proto.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ARQUITETURA · CAMADA 1 DE 3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09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028700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028700" y="1892000"/>
            <a:ext cx="4676866" cy="6070000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rma disco"/>
          <p:cNvSpPr/>
          <p:nvPr/>
        </p:nvSpPr>
        <p:spPr>
          <a:xfrm>
            <a:off x="1328700" y="2042000"/>
            <a:ext cx="380000" cy="38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828700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42B"/>
                </a:solidFill>
                <a:latin typeface="Montserrat"/>
              </a:rPr>
              <a:t>Ingestão</a:t>
            </a:r>
          </a:p>
        </p:txBody>
      </p:sp>
      <p:sp>
        <p:nvSpPr>
          <p:cNvPr id="15" name="Forma card"/>
          <p:cNvSpPr/>
          <p:nvPr/>
        </p:nvSpPr>
        <p:spPr>
          <a:xfrm>
            <a:off x="6805566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ma disco"/>
          <p:cNvSpPr/>
          <p:nvPr/>
        </p:nvSpPr>
        <p:spPr>
          <a:xfrm>
            <a:off x="7105566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2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7605566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Event Hub (Rust)</a:t>
            </a:r>
          </a:p>
        </p:txBody>
      </p:sp>
      <p:sp>
        <p:nvSpPr>
          <p:cNvPr id="18" name="Forma card"/>
          <p:cNvSpPr/>
          <p:nvPr/>
        </p:nvSpPr>
        <p:spPr>
          <a:xfrm>
            <a:off x="12582432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orma disco"/>
          <p:cNvSpPr/>
          <p:nvPr/>
        </p:nvSpPr>
        <p:spPr>
          <a:xfrm>
            <a:off x="12882432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3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13382432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Consumo</a:t>
            </a:r>
          </a:p>
        </p:txBody>
      </p:sp>
      <p:sp>
        <p:nvSpPr>
          <p:cNvPr id="21" name="Diagrama caixa"/>
          <p:cNvSpPr/>
          <p:nvPr/>
        </p:nvSpPr>
        <p:spPr>
          <a:xfrm>
            <a:off x="1248700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0F8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rma disco"/>
          <p:cNvSpPr/>
          <p:nvPr/>
        </p:nvSpPr>
        <p:spPr>
          <a:xfrm>
            <a:off x="1448700" y="2792000"/>
            <a:ext cx="560000" cy="56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L</a:t>
            </a:r>
          </a:p>
        </p:txBody>
      </p:sp>
      <p:sp>
        <p:nvSpPr>
          <p:cNvPr id="23" name="Texto"/>
          <p:cNvSpPr txBox="1"/>
          <p:nvPr/>
        </p:nvSpPr>
        <p:spPr>
          <a:xfrm>
            <a:off x="2208700" y="259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live-ms-java</a:t>
            </a:r>
          </a:p>
          <a:p>
            <a:pPr algn="l"/>
            <a:r>
              <a:rPr sz="1400">
                <a:solidFill>
                  <a:srgbClr val="55546E"/>
                </a:solidFill>
                <a:latin typeface="Consolas"/>
              </a:rPr>
              <a:t>AIS · OlhoVivo · CGESP</a:t>
            </a:r>
          </a:p>
        </p:txBody>
      </p:sp>
      <p:sp>
        <p:nvSpPr>
          <p:cNvPr id="24" name="Diagrama caixa"/>
          <p:cNvSpPr/>
          <p:nvPr/>
        </p:nvSpPr>
        <p:spPr>
          <a:xfrm>
            <a:off x="1248700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orma disco"/>
          <p:cNvSpPr/>
          <p:nvPr/>
        </p:nvSpPr>
        <p:spPr>
          <a:xfrm>
            <a:off x="1448700" y="4152000"/>
            <a:ext cx="560000" cy="560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V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2208700" y="395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virtual-ms-java</a:t>
            </a:r>
          </a:p>
          <a:p>
            <a:pPr algn="l"/>
            <a:r>
              <a:rPr sz="1400">
                <a:solidFill>
                  <a:srgbClr val="55546E"/>
                </a:solidFill>
                <a:latin typeface="Consolas"/>
              </a:rPr>
              <a:t>gêmeo do campus · Vaadin</a:t>
            </a:r>
          </a:p>
        </p:txBody>
      </p:sp>
      <p:sp>
        <p:nvSpPr>
          <p:cNvPr id="27" name="Diagrama caixa"/>
          <p:cNvSpPr/>
          <p:nvPr/>
        </p:nvSpPr>
        <p:spPr>
          <a:xfrm>
            <a:off x="1248700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rma disco"/>
          <p:cNvSpPr/>
          <p:nvPr/>
        </p:nvSpPr>
        <p:spPr>
          <a:xfrm>
            <a:off x="1448700" y="5512000"/>
            <a:ext cx="560000" cy="56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29" name="Texto"/>
          <p:cNvSpPr txBox="1"/>
          <p:nvPr/>
        </p:nvSpPr>
        <p:spPr>
          <a:xfrm>
            <a:off x="2208700" y="531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constructive-ms-python</a:t>
            </a:r>
          </a:p>
          <a:p>
            <a:pPr algn="l"/>
            <a:r>
              <a:rPr sz="1400">
                <a:solidFill>
                  <a:srgbClr val="55546E"/>
                </a:solidFill>
                <a:latin typeface="Consolas"/>
              </a:rPr>
              <a:t>drone AirSim + LLM</a:t>
            </a:r>
          </a:p>
        </p:txBody>
      </p:sp>
      <p:sp>
        <p:nvSpPr>
          <p:cNvPr id="30" name="Diagrama caixa"/>
          <p:cNvSpPr/>
          <p:nvPr/>
        </p:nvSpPr>
        <p:spPr>
          <a:xfrm>
            <a:off x="1248700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19050">
            <a:solidFill>
              <a:srgbClr val="0F8B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o"/>
          <p:cNvSpPr txBox="1"/>
          <p:nvPr/>
        </p:nvSpPr>
        <p:spPr>
          <a:xfrm>
            <a:off x="1408700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F8B94"/>
                </a:solidFill>
                <a:latin typeface="Montserrat"/>
              </a:rPr>
              <a:t>+ novo adaptador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ponto de extensão</a:t>
            </a:r>
          </a:p>
        </p:txBody>
      </p:sp>
      <p:cxnSp>
        <p:nvCxnSpPr>
          <p:cNvPr id="32" name="Diagrama linha"/>
          <p:cNvCxnSpPr/>
          <p:nvPr/>
        </p:nvCxnSpPr>
        <p:spPr>
          <a:xfrm>
            <a:off x="5485566" y="307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grama origem"/>
          <p:cNvSpPr/>
          <p:nvPr/>
        </p:nvSpPr>
        <p:spPr>
          <a:xfrm>
            <a:off x="5410566" y="299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Diagrama linha"/>
          <p:cNvCxnSpPr/>
          <p:nvPr/>
        </p:nvCxnSpPr>
        <p:spPr>
          <a:xfrm>
            <a:off x="5485566" y="443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grama origem"/>
          <p:cNvSpPr/>
          <p:nvPr/>
        </p:nvSpPr>
        <p:spPr>
          <a:xfrm>
            <a:off x="5410566" y="435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Diagrama linha"/>
          <p:cNvCxnSpPr/>
          <p:nvPr/>
        </p:nvCxnSpPr>
        <p:spPr>
          <a:xfrm>
            <a:off x="5485566" y="579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origem"/>
          <p:cNvSpPr/>
          <p:nvPr/>
        </p:nvSpPr>
        <p:spPr>
          <a:xfrm>
            <a:off x="5410566" y="571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Diagrama linha"/>
          <p:cNvCxnSpPr/>
          <p:nvPr/>
        </p:nvCxnSpPr>
        <p:spPr>
          <a:xfrm>
            <a:off x="6255566" y="3072000"/>
            <a:ext cx="0" cy="272000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iagrama seta"/>
          <p:cNvCxnSpPr/>
          <p:nvPr/>
        </p:nvCxnSpPr>
        <p:spPr>
          <a:xfrm>
            <a:off x="6255566" y="307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orma etiqueta"/>
          <p:cNvSpPr/>
          <p:nvPr/>
        </p:nvSpPr>
        <p:spPr>
          <a:xfrm>
            <a:off x="5535566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5535566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8B94"/>
                </a:solidFill>
                <a:latin typeface="Consolas"/>
              </a:rPr>
              <a:t>gRPC</a:t>
            </a:r>
          </a:p>
        </p:txBody>
      </p:sp>
      <p:sp>
        <p:nvSpPr>
          <p:cNvPr id="42" name="Diagrama caixa"/>
          <p:cNvSpPr/>
          <p:nvPr/>
        </p:nvSpPr>
        <p:spPr>
          <a:xfrm>
            <a:off x="7025566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o"/>
          <p:cNvSpPr txBox="1"/>
          <p:nvPr/>
        </p:nvSpPr>
        <p:spPr>
          <a:xfrm>
            <a:off x="7185566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gRPC ingestion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contrato .proto</a:t>
            </a:r>
          </a:p>
        </p:txBody>
      </p:sp>
      <p:sp>
        <p:nvSpPr>
          <p:cNvPr id="44" name="Diagrama caixa"/>
          <p:cNvSpPr/>
          <p:nvPr/>
        </p:nvSpPr>
        <p:spPr>
          <a:xfrm>
            <a:off x="7025566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o"/>
          <p:cNvSpPr txBox="1"/>
          <p:nvPr/>
        </p:nvSpPr>
        <p:spPr>
          <a:xfrm>
            <a:off x="7185566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Pub/Sub router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roteamento por tópico</a:t>
            </a:r>
          </a:p>
        </p:txBody>
      </p:sp>
      <p:cxnSp>
        <p:nvCxnSpPr>
          <p:cNvPr id="46" name="Diagrama seta"/>
          <p:cNvCxnSpPr/>
          <p:nvPr/>
        </p:nvCxnSpPr>
        <p:spPr>
          <a:xfrm>
            <a:off x="9143999" y="355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grama caixa"/>
          <p:cNvSpPr/>
          <p:nvPr/>
        </p:nvSpPr>
        <p:spPr>
          <a:xfrm>
            <a:off x="7025566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o"/>
          <p:cNvSpPr txBox="1"/>
          <p:nvPr/>
        </p:nvSpPr>
        <p:spPr>
          <a:xfrm>
            <a:off x="7185566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Transactional Outbox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evento + outbox, 1 transação</a:t>
            </a:r>
          </a:p>
        </p:txBody>
      </p:sp>
      <p:cxnSp>
        <p:nvCxnSpPr>
          <p:cNvPr id="49" name="Diagrama seta"/>
          <p:cNvCxnSpPr/>
          <p:nvPr/>
        </p:nvCxnSpPr>
        <p:spPr>
          <a:xfrm>
            <a:off x="9143999" y="491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iagrama caixa"/>
          <p:cNvSpPr/>
          <p:nvPr/>
        </p:nvSpPr>
        <p:spPr>
          <a:xfrm>
            <a:off x="7025566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o"/>
          <p:cNvSpPr txBox="1"/>
          <p:nvPr/>
        </p:nvSpPr>
        <p:spPr>
          <a:xfrm>
            <a:off x="7185566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Poller 500 ms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publica · at-least-once</a:t>
            </a:r>
          </a:p>
        </p:txBody>
      </p:sp>
      <p:cxnSp>
        <p:nvCxnSpPr>
          <p:cNvPr id="52" name="Diagrama seta"/>
          <p:cNvCxnSpPr/>
          <p:nvPr/>
        </p:nvCxnSpPr>
        <p:spPr>
          <a:xfrm>
            <a:off x="9143999" y="627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iagrama linha"/>
          <p:cNvCxnSpPr/>
          <p:nvPr/>
        </p:nvCxnSpPr>
        <p:spPr>
          <a:xfrm>
            <a:off x="11262432" y="4432000"/>
            <a:ext cx="513333" cy="0"/>
          </a:xfrm>
          <a:prstGeom prst="line">
            <a:avLst/>
          </a:prstGeom>
          <a:ln w="25400" cap="rnd">
            <a:solidFill>
              <a:srgbClr val="D6D2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grama origem"/>
          <p:cNvSpPr/>
          <p:nvPr/>
        </p:nvSpPr>
        <p:spPr>
          <a:xfrm>
            <a:off x="11187432" y="4357000"/>
            <a:ext cx="150000" cy="150000"/>
          </a:xfrm>
          <a:prstGeom prst="ellipse">
            <a:avLst/>
          </a:prstGeom>
          <a:solidFill>
            <a:srgbClr val="D6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Diagrama linha"/>
          <p:cNvCxnSpPr/>
          <p:nvPr/>
        </p:nvCxnSpPr>
        <p:spPr>
          <a:xfrm flipV="1">
            <a:off x="11775765" y="3072000"/>
            <a:ext cx="0" cy="1360000"/>
          </a:xfrm>
          <a:prstGeom prst="line">
            <a:avLst/>
          </a:prstGeom>
          <a:ln w="25400" cap="rnd">
            <a:solidFill>
              <a:srgbClr val="D6D2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iagrama seta"/>
          <p:cNvCxnSpPr/>
          <p:nvPr/>
        </p:nvCxnSpPr>
        <p:spPr>
          <a:xfrm>
            <a:off x="11775765" y="3072000"/>
            <a:ext cx="1026667" cy="0"/>
          </a:xfrm>
          <a:prstGeom prst="line">
            <a:avLst/>
          </a:prstGeom>
          <a:ln w="25400" cap="rnd">
            <a:solidFill>
              <a:srgbClr val="D6D2EA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Diagrama linha"/>
          <p:cNvCxnSpPr/>
          <p:nvPr/>
        </p:nvCxnSpPr>
        <p:spPr>
          <a:xfrm>
            <a:off x="11262432" y="7152000"/>
            <a:ext cx="1026666" cy="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grama origem"/>
          <p:cNvSpPr/>
          <p:nvPr/>
        </p:nvSpPr>
        <p:spPr>
          <a:xfrm>
            <a:off x="11187432" y="7077000"/>
            <a:ext cx="150000" cy="150000"/>
          </a:xfrm>
          <a:prstGeom prst="ellipse">
            <a:avLst/>
          </a:prstGeom>
          <a:solidFill>
            <a:srgbClr val="D6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Diagrama linha"/>
          <p:cNvCxnSpPr/>
          <p:nvPr/>
        </p:nvCxnSpPr>
        <p:spPr>
          <a:xfrm flipV="1">
            <a:off x="12289098" y="4432000"/>
            <a:ext cx="0" cy="272000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Diagrama seta"/>
          <p:cNvCxnSpPr/>
          <p:nvPr/>
        </p:nvCxnSpPr>
        <p:spPr>
          <a:xfrm>
            <a:off x="12289098" y="4432000"/>
            <a:ext cx="513334" cy="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Diagrama seta"/>
          <p:cNvCxnSpPr/>
          <p:nvPr/>
        </p:nvCxnSpPr>
        <p:spPr>
          <a:xfrm>
            <a:off x="12289098" y="5792000"/>
            <a:ext cx="513334" cy="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orma etiqueta"/>
          <p:cNvSpPr/>
          <p:nvPr/>
        </p:nvSpPr>
        <p:spPr>
          <a:xfrm>
            <a:off x="11312432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F1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o"/>
          <p:cNvSpPr txBox="1"/>
          <p:nvPr/>
        </p:nvSpPr>
        <p:spPr>
          <a:xfrm>
            <a:off x="11312432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ACC6"/>
                </a:solidFill>
                <a:latin typeface="Consolas"/>
              </a:rPr>
              <a:t>broadcast</a:t>
            </a:r>
          </a:p>
        </p:txBody>
      </p:sp>
      <p:sp>
        <p:nvSpPr>
          <p:cNvPr id="64" name="Diagrama caixa"/>
          <p:cNvSpPr/>
          <p:nvPr/>
        </p:nvSpPr>
        <p:spPr>
          <a:xfrm>
            <a:off x="12802432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o"/>
          <p:cNvSpPr txBox="1"/>
          <p:nvPr/>
        </p:nvSpPr>
        <p:spPr>
          <a:xfrm>
            <a:off x="12962432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Sync subscribers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missões · gêmeo</a:t>
            </a:r>
          </a:p>
        </p:txBody>
      </p:sp>
      <p:sp>
        <p:nvSpPr>
          <p:cNvPr id="66" name="Diagrama caixa"/>
          <p:cNvSpPr/>
          <p:nvPr/>
        </p:nvSpPr>
        <p:spPr>
          <a:xfrm>
            <a:off x="12802432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o"/>
          <p:cNvSpPr txBox="1"/>
          <p:nvPr/>
        </p:nvSpPr>
        <p:spPr>
          <a:xfrm>
            <a:off x="12962432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Write stores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ESCRITA · MariaDB · InfluxDB</a:t>
            </a:r>
          </a:p>
        </p:txBody>
      </p:sp>
      <p:sp>
        <p:nvSpPr>
          <p:cNvPr id="68" name="Diagrama caixa"/>
          <p:cNvSpPr/>
          <p:nvPr/>
        </p:nvSpPr>
        <p:spPr>
          <a:xfrm>
            <a:off x="12802432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o"/>
          <p:cNvSpPr txBox="1"/>
          <p:nvPr/>
        </p:nvSpPr>
        <p:spPr>
          <a:xfrm>
            <a:off x="12962432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Read projections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LEITURA · eventhub_read</a:t>
            </a:r>
          </a:p>
        </p:txBody>
      </p:sp>
      <p:sp>
        <p:nvSpPr>
          <p:cNvPr id="70" name="Diagrama caixa"/>
          <p:cNvSpPr/>
          <p:nvPr/>
        </p:nvSpPr>
        <p:spPr>
          <a:xfrm>
            <a:off x="12802432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o"/>
          <p:cNvSpPr txBox="1"/>
          <p:nvPr/>
        </p:nvSpPr>
        <p:spPr>
          <a:xfrm>
            <a:off x="12962432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Grafana · Vaadin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dashboards e gêmeo</a:t>
            </a:r>
          </a:p>
        </p:txBody>
      </p:sp>
      <p:cxnSp>
        <p:nvCxnSpPr>
          <p:cNvPr id="72" name="Diagrama seta"/>
          <p:cNvCxnSpPr/>
          <p:nvPr/>
        </p:nvCxnSpPr>
        <p:spPr>
          <a:xfrm>
            <a:off x="14920865" y="627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orma síntese"/>
          <p:cNvSpPr/>
          <p:nvPr/>
        </p:nvSpPr>
        <p:spPr>
          <a:xfrm>
            <a:off x="1028700" y="8262000"/>
            <a:ext cx="16230600" cy="820000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o"/>
          <p:cNvSpPr txBox="1"/>
          <p:nvPr/>
        </p:nvSpPr>
        <p:spPr>
          <a:xfrm>
            <a:off x="1548700" y="8262000"/>
            <a:ext cx="151906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8B94"/>
                </a:solidFill>
                <a:latin typeface="Consolas"/>
              </a:rPr>
              <a:t>CAMADA 1   </a:t>
            </a:r>
            <a:r>
              <a:rPr sz="2000">
                <a:solidFill>
                  <a:srgbClr val="14142B"/>
                </a:solidFill>
                <a:latin typeface="Montserrat"/>
              </a:rPr>
              <a:t>Um contrato .proto, via gRPC, para os três serviços; adaptador novo é só mais um produtor.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Event Hub: outbox transacional e poller de 500 ms.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ARQUITETURA · CAMADA 2 DE 3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10</a:t>
            </a:r>
          </a:p>
        </p:txBody>
      </p:sp>
      <p:sp>
        <p:nvSpPr>
          <p:cNvPr id="11" name="Forma card"/>
          <p:cNvSpPr/>
          <p:nvPr/>
        </p:nvSpPr>
        <p:spPr>
          <a:xfrm>
            <a:off x="1028700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disco"/>
          <p:cNvSpPr/>
          <p:nvPr/>
        </p:nvSpPr>
        <p:spPr>
          <a:xfrm>
            <a:off x="1328700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1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1828700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Ingestão</a:t>
            </a:r>
          </a:p>
        </p:txBody>
      </p:sp>
      <p:sp>
        <p:nvSpPr>
          <p:cNvPr id="14" name="Forma card borda"/>
          <p:cNvSpPr/>
          <p:nvPr/>
        </p:nvSpPr>
        <p:spPr>
          <a:xfrm>
            <a:off x="6805566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rma card"/>
          <p:cNvSpPr/>
          <p:nvPr/>
        </p:nvSpPr>
        <p:spPr>
          <a:xfrm>
            <a:off x="6805566" y="1892000"/>
            <a:ext cx="4676866" cy="6070000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ma disco"/>
          <p:cNvSpPr/>
          <p:nvPr/>
        </p:nvSpPr>
        <p:spPr>
          <a:xfrm>
            <a:off x="7105566" y="2042000"/>
            <a:ext cx="380000" cy="380000"/>
          </a:xfrm>
          <a:prstGeom prst="ellipse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7605566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42B"/>
                </a:solidFill>
                <a:latin typeface="Montserrat"/>
              </a:rPr>
              <a:t>Event Hub (Rust)</a:t>
            </a:r>
          </a:p>
        </p:txBody>
      </p:sp>
      <p:sp>
        <p:nvSpPr>
          <p:cNvPr id="18" name="Forma card"/>
          <p:cNvSpPr/>
          <p:nvPr/>
        </p:nvSpPr>
        <p:spPr>
          <a:xfrm>
            <a:off x="12582432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orma disco"/>
          <p:cNvSpPr/>
          <p:nvPr/>
        </p:nvSpPr>
        <p:spPr>
          <a:xfrm>
            <a:off x="12882432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3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13382432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Consumo</a:t>
            </a:r>
          </a:p>
        </p:txBody>
      </p:sp>
      <p:sp>
        <p:nvSpPr>
          <p:cNvPr id="21" name="Diagrama caixa"/>
          <p:cNvSpPr/>
          <p:nvPr/>
        </p:nvSpPr>
        <p:spPr>
          <a:xfrm>
            <a:off x="1248700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rma disco"/>
          <p:cNvSpPr/>
          <p:nvPr/>
        </p:nvSpPr>
        <p:spPr>
          <a:xfrm>
            <a:off x="1448700" y="279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L</a:t>
            </a:r>
          </a:p>
        </p:txBody>
      </p:sp>
      <p:sp>
        <p:nvSpPr>
          <p:cNvPr id="23" name="Texto"/>
          <p:cNvSpPr txBox="1"/>
          <p:nvPr/>
        </p:nvSpPr>
        <p:spPr>
          <a:xfrm>
            <a:off x="2208700" y="259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live-ms-java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AIS · OlhoVivo · CGESP</a:t>
            </a:r>
          </a:p>
        </p:txBody>
      </p:sp>
      <p:sp>
        <p:nvSpPr>
          <p:cNvPr id="24" name="Diagrama caixa"/>
          <p:cNvSpPr/>
          <p:nvPr/>
        </p:nvSpPr>
        <p:spPr>
          <a:xfrm>
            <a:off x="1248700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orma disco"/>
          <p:cNvSpPr/>
          <p:nvPr/>
        </p:nvSpPr>
        <p:spPr>
          <a:xfrm>
            <a:off x="1448700" y="415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V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2208700" y="395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virtual-ms-java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gêmeo do campus · Vaadin</a:t>
            </a:r>
          </a:p>
        </p:txBody>
      </p:sp>
      <p:sp>
        <p:nvSpPr>
          <p:cNvPr id="27" name="Diagrama caixa"/>
          <p:cNvSpPr/>
          <p:nvPr/>
        </p:nvSpPr>
        <p:spPr>
          <a:xfrm>
            <a:off x="1248700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rma disco"/>
          <p:cNvSpPr/>
          <p:nvPr/>
        </p:nvSpPr>
        <p:spPr>
          <a:xfrm>
            <a:off x="1448700" y="551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C</a:t>
            </a:r>
          </a:p>
        </p:txBody>
      </p:sp>
      <p:sp>
        <p:nvSpPr>
          <p:cNvPr id="29" name="Texto"/>
          <p:cNvSpPr txBox="1"/>
          <p:nvPr/>
        </p:nvSpPr>
        <p:spPr>
          <a:xfrm>
            <a:off x="2208700" y="531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constructive-ms-python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drone AirSim + LLM</a:t>
            </a:r>
          </a:p>
        </p:txBody>
      </p:sp>
      <p:sp>
        <p:nvSpPr>
          <p:cNvPr id="30" name="Diagrama caixa"/>
          <p:cNvSpPr/>
          <p:nvPr/>
        </p:nvSpPr>
        <p:spPr>
          <a:xfrm>
            <a:off x="1248700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o"/>
          <p:cNvSpPr txBox="1"/>
          <p:nvPr/>
        </p:nvSpPr>
        <p:spPr>
          <a:xfrm>
            <a:off x="1408700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+ novo adaptador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ponto de extensão</a:t>
            </a:r>
          </a:p>
        </p:txBody>
      </p:sp>
      <p:cxnSp>
        <p:nvCxnSpPr>
          <p:cNvPr id="32" name="Diagrama linha"/>
          <p:cNvCxnSpPr/>
          <p:nvPr/>
        </p:nvCxnSpPr>
        <p:spPr>
          <a:xfrm>
            <a:off x="5485566" y="307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grama origem"/>
          <p:cNvSpPr/>
          <p:nvPr/>
        </p:nvSpPr>
        <p:spPr>
          <a:xfrm>
            <a:off x="5410566" y="299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Diagrama linha"/>
          <p:cNvCxnSpPr/>
          <p:nvPr/>
        </p:nvCxnSpPr>
        <p:spPr>
          <a:xfrm>
            <a:off x="5485566" y="443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grama origem"/>
          <p:cNvSpPr/>
          <p:nvPr/>
        </p:nvSpPr>
        <p:spPr>
          <a:xfrm>
            <a:off x="5410566" y="435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Diagrama linha"/>
          <p:cNvCxnSpPr/>
          <p:nvPr/>
        </p:nvCxnSpPr>
        <p:spPr>
          <a:xfrm>
            <a:off x="5485566" y="579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origem"/>
          <p:cNvSpPr/>
          <p:nvPr/>
        </p:nvSpPr>
        <p:spPr>
          <a:xfrm>
            <a:off x="5410566" y="5717000"/>
            <a:ext cx="150000" cy="150000"/>
          </a:xfrm>
          <a:prstGeom prst="ellipse">
            <a:avLst/>
          </a:prstGeom>
          <a:solidFill>
            <a:srgbClr val="0F8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Diagrama linha"/>
          <p:cNvCxnSpPr/>
          <p:nvPr/>
        </p:nvCxnSpPr>
        <p:spPr>
          <a:xfrm>
            <a:off x="6255566" y="3072000"/>
            <a:ext cx="0" cy="2720000"/>
          </a:xfrm>
          <a:prstGeom prst="line">
            <a:avLst/>
          </a:prstGeom>
          <a:ln w="38100" cap="rnd">
            <a:solidFill>
              <a:srgbClr val="0F8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iagrama seta"/>
          <p:cNvCxnSpPr/>
          <p:nvPr/>
        </p:nvCxnSpPr>
        <p:spPr>
          <a:xfrm>
            <a:off x="6255566" y="3072000"/>
            <a:ext cx="770000" cy="0"/>
          </a:xfrm>
          <a:prstGeom prst="line">
            <a:avLst/>
          </a:prstGeom>
          <a:ln w="38100" cap="rnd">
            <a:solidFill>
              <a:srgbClr val="0F8B9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orma etiqueta"/>
          <p:cNvSpPr/>
          <p:nvPr/>
        </p:nvSpPr>
        <p:spPr>
          <a:xfrm>
            <a:off x="5535566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E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5535566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8B94"/>
                </a:solidFill>
                <a:latin typeface="Consolas"/>
              </a:rPr>
              <a:t>gRPC</a:t>
            </a:r>
          </a:p>
        </p:txBody>
      </p:sp>
      <p:sp>
        <p:nvSpPr>
          <p:cNvPr id="42" name="Diagrama caixa"/>
          <p:cNvSpPr/>
          <p:nvPr/>
        </p:nvSpPr>
        <p:spPr>
          <a:xfrm>
            <a:off x="7025566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o"/>
          <p:cNvSpPr txBox="1"/>
          <p:nvPr/>
        </p:nvSpPr>
        <p:spPr>
          <a:xfrm>
            <a:off x="7185566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gRPC ingestion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contrato .proto</a:t>
            </a:r>
          </a:p>
        </p:txBody>
      </p:sp>
      <p:sp>
        <p:nvSpPr>
          <p:cNvPr id="44" name="Diagrama caixa"/>
          <p:cNvSpPr/>
          <p:nvPr/>
        </p:nvSpPr>
        <p:spPr>
          <a:xfrm>
            <a:off x="7025566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o"/>
          <p:cNvSpPr txBox="1"/>
          <p:nvPr/>
        </p:nvSpPr>
        <p:spPr>
          <a:xfrm>
            <a:off x="7185566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Pub/Sub router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roteamento por tópico</a:t>
            </a:r>
          </a:p>
        </p:txBody>
      </p:sp>
      <p:cxnSp>
        <p:nvCxnSpPr>
          <p:cNvPr id="46" name="Diagrama seta"/>
          <p:cNvCxnSpPr/>
          <p:nvPr/>
        </p:nvCxnSpPr>
        <p:spPr>
          <a:xfrm>
            <a:off x="9143999" y="3552000"/>
            <a:ext cx="0" cy="40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grama caixa"/>
          <p:cNvSpPr/>
          <p:nvPr/>
        </p:nvSpPr>
        <p:spPr>
          <a:xfrm>
            <a:off x="7025566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o"/>
          <p:cNvSpPr txBox="1"/>
          <p:nvPr/>
        </p:nvSpPr>
        <p:spPr>
          <a:xfrm>
            <a:off x="7185566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Transactional Outbox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onsolas"/>
              </a:rPr>
              <a:t>evento + outbox, 1 transação</a:t>
            </a:r>
          </a:p>
        </p:txBody>
      </p:sp>
      <p:cxnSp>
        <p:nvCxnSpPr>
          <p:cNvPr id="49" name="Diagrama seta"/>
          <p:cNvCxnSpPr/>
          <p:nvPr/>
        </p:nvCxnSpPr>
        <p:spPr>
          <a:xfrm>
            <a:off x="9143999" y="4912000"/>
            <a:ext cx="0" cy="40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iagrama caixa"/>
          <p:cNvSpPr/>
          <p:nvPr/>
        </p:nvSpPr>
        <p:spPr>
          <a:xfrm>
            <a:off x="7025566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o"/>
          <p:cNvSpPr txBox="1"/>
          <p:nvPr/>
        </p:nvSpPr>
        <p:spPr>
          <a:xfrm>
            <a:off x="7185566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Poller 500 ms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onsolas"/>
              </a:rPr>
              <a:t>publica · at-least-once</a:t>
            </a:r>
          </a:p>
        </p:txBody>
      </p:sp>
      <p:cxnSp>
        <p:nvCxnSpPr>
          <p:cNvPr id="52" name="Diagrama seta"/>
          <p:cNvCxnSpPr/>
          <p:nvPr/>
        </p:nvCxnSpPr>
        <p:spPr>
          <a:xfrm>
            <a:off x="9143999" y="6272000"/>
            <a:ext cx="0" cy="40000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iagrama linha"/>
          <p:cNvCxnSpPr/>
          <p:nvPr/>
        </p:nvCxnSpPr>
        <p:spPr>
          <a:xfrm>
            <a:off x="11262432" y="4432000"/>
            <a:ext cx="513333" cy="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grama origem"/>
          <p:cNvSpPr/>
          <p:nvPr/>
        </p:nvSpPr>
        <p:spPr>
          <a:xfrm>
            <a:off x="11187432" y="4357000"/>
            <a:ext cx="150000" cy="15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Diagrama linha"/>
          <p:cNvCxnSpPr/>
          <p:nvPr/>
        </p:nvCxnSpPr>
        <p:spPr>
          <a:xfrm flipV="1">
            <a:off x="11775765" y="3072000"/>
            <a:ext cx="0" cy="136000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iagrama seta"/>
          <p:cNvCxnSpPr/>
          <p:nvPr/>
        </p:nvCxnSpPr>
        <p:spPr>
          <a:xfrm>
            <a:off x="11775765" y="3072000"/>
            <a:ext cx="1026667" cy="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Diagrama linha"/>
          <p:cNvCxnSpPr/>
          <p:nvPr/>
        </p:nvCxnSpPr>
        <p:spPr>
          <a:xfrm>
            <a:off x="11262432" y="7152000"/>
            <a:ext cx="1026666" cy="0"/>
          </a:xfrm>
          <a:prstGeom prst="line">
            <a:avLst/>
          </a:prstGeom>
          <a:ln w="38100" cap="rnd">
            <a:solidFill>
              <a:srgbClr val="C26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grama origem"/>
          <p:cNvSpPr/>
          <p:nvPr/>
        </p:nvSpPr>
        <p:spPr>
          <a:xfrm>
            <a:off x="11187432" y="7077000"/>
            <a:ext cx="150000" cy="15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Diagrama linha"/>
          <p:cNvCxnSpPr/>
          <p:nvPr/>
        </p:nvCxnSpPr>
        <p:spPr>
          <a:xfrm flipV="1">
            <a:off x="12289098" y="4432000"/>
            <a:ext cx="0" cy="2720000"/>
          </a:xfrm>
          <a:prstGeom prst="line">
            <a:avLst/>
          </a:prstGeom>
          <a:ln w="38100" cap="rnd">
            <a:solidFill>
              <a:srgbClr val="C26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Diagrama seta"/>
          <p:cNvCxnSpPr/>
          <p:nvPr/>
        </p:nvCxnSpPr>
        <p:spPr>
          <a:xfrm>
            <a:off x="12289098" y="4432000"/>
            <a:ext cx="513334" cy="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Diagrama seta"/>
          <p:cNvCxnSpPr/>
          <p:nvPr/>
        </p:nvCxnSpPr>
        <p:spPr>
          <a:xfrm>
            <a:off x="12289098" y="5792000"/>
            <a:ext cx="513334" cy="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orma etiqueta"/>
          <p:cNvSpPr/>
          <p:nvPr/>
        </p:nvSpPr>
        <p:spPr>
          <a:xfrm>
            <a:off x="11312432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o"/>
          <p:cNvSpPr txBox="1"/>
          <p:nvPr/>
        </p:nvSpPr>
        <p:spPr>
          <a:xfrm>
            <a:off x="11312432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2660B"/>
                </a:solidFill>
                <a:latin typeface="Consolas"/>
              </a:rPr>
              <a:t>broadcast</a:t>
            </a:r>
          </a:p>
        </p:txBody>
      </p:sp>
      <p:sp>
        <p:nvSpPr>
          <p:cNvPr id="64" name="Diagrama caixa"/>
          <p:cNvSpPr/>
          <p:nvPr/>
        </p:nvSpPr>
        <p:spPr>
          <a:xfrm>
            <a:off x="12802432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o"/>
          <p:cNvSpPr txBox="1"/>
          <p:nvPr/>
        </p:nvSpPr>
        <p:spPr>
          <a:xfrm>
            <a:off x="12962432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Sync subscribers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missões · gêmeo</a:t>
            </a:r>
          </a:p>
        </p:txBody>
      </p:sp>
      <p:sp>
        <p:nvSpPr>
          <p:cNvPr id="66" name="Diagrama caixa"/>
          <p:cNvSpPr/>
          <p:nvPr/>
        </p:nvSpPr>
        <p:spPr>
          <a:xfrm>
            <a:off x="12802432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o"/>
          <p:cNvSpPr txBox="1"/>
          <p:nvPr/>
        </p:nvSpPr>
        <p:spPr>
          <a:xfrm>
            <a:off x="12962432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Write stores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ESCRITA · MariaDB · InfluxDB</a:t>
            </a:r>
          </a:p>
        </p:txBody>
      </p:sp>
      <p:sp>
        <p:nvSpPr>
          <p:cNvPr id="68" name="Diagrama caixa"/>
          <p:cNvSpPr/>
          <p:nvPr/>
        </p:nvSpPr>
        <p:spPr>
          <a:xfrm>
            <a:off x="12802432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o"/>
          <p:cNvSpPr txBox="1"/>
          <p:nvPr/>
        </p:nvSpPr>
        <p:spPr>
          <a:xfrm>
            <a:off x="12962432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Read projections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LEITURA · eventhub_read</a:t>
            </a:r>
          </a:p>
        </p:txBody>
      </p:sp>
      <p:sp>
        <p:nvSpPr>
          <p:cNvPr id="70" name="Diagrama caixa"/>
          <p:cNvSpPr/>
          <p:nvPr/>
        </p:nvSpPr>
        <p:spPr>
          <a:xfrm>
            <a:off x="12802432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o"/>
          <p:cNvSpPr txBox="1"/>
          <p:nvPr/>
        </p:nvSpPr>
        <p:spPr>
          <a:xfrm>
            <a:off x="12962432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Grafana · Vaadin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dashboards e gêmeo</a:t>
            </a:r>
          </a:p>
        </p:txBody>
      </p:sp>
      <p:cxnSp>
        <p:nvCxnSpPr>
          <p:cNvPr id="72" name="Diagrama seta"/>
          <p:cNvCxnSpPr/>
          <p:nvPr/>
        </p:nvCxnSpPr>
        <p:spPr>
          <a:xfrm>
            <a:off x="14920865" y="627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orma síntese"/>
          <p:cNvSpPr/>
          <p:nvPr/>
        </p:nvSpPr>
        <p:spPr>
          <a:xfrm>
            <a:off x="1028700" y="8262000"/>
            <a:ext cx="16230600" cy="820000"/>
          </a:xfrm>
          <a:prstGeom prst="roundRect">
            <a:avLst>
              <a:gd name="adj" fmla="val 50000"/>
            </a:avLst>
          </a:prstGeom>
          <a:solidFill>
            <a:srgbClr val="EE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o"/>
          <p:cNvSpPr txBox="1"/>
          <p:nvPr/>
        </p:nvSpPr>
        <p:spPr>
          <a:xfrm>
            <a:off x="1548700" y="8262000"/>
            <a:ext cx="151906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CAMADA 2   </a:t>
            </a:r>
            <a:r>
              <a:rPr sz="2000">
                <a:solidFill>
                  <a:srgbClr val="14142B"/>
                </a:solidFill>
                <a:latin typeface="Montserrat"/>
              </a:rPr>
              <a:t>Evento e outbox na mesma transação local; o poller publica a cada 500 ms: entrega at-least-once.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Consumo: MariaDB e InfluxDB gravam; projeções leem.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ARQUITETURA · CAMADA 3 DE 3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11</a:t>
            </a:r>
          </a:p>
        </p:txBody>
      </p:sp>
      <p:sp>
        <p:nvSpPr>
          <p:cNvPr id="11" name="Forma card"/>
          <p:cNvSpPr/>
          <p:nvPr/>
        </p:nvSpPr>
        <p:spPr>
          <a:xfrm>
            <a:off x="1028700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disco"/>
          <p:cNvSpPr/>
          <p:nvPr/>
        </p:nvSpPr>
        <p:spPr>
          <a:xfrm>
            <a:off x="1328700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1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1828700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Ingestão</a:t>
            </a:r>
          </a:p>
        </p:txBody>
      </p:sp>
      <p:sp>
        <p:nvSpPr>
          <p:cNvPr id="14" name="Forma card"/>
          <p:cNvSpPr/>
          <p:nvPr/>
        </p:nvSpPr>
        <p:spPr>
          <a:xfrm>
            <a:off x="6805566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FAF9FE"/>
          </a:solidFill>
          <a:ln w="14287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rma disco"/>
          <p:cNvSpPr/>
          <p:nvPr/>
        </p:nvSpPr>
        <p:spPr>
          <a:xfrm>
            <a:off x="7105566" y="2042000"/>
            <a:ext cx="380000" cy="38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B0ACC6"/>
                </a:solidFill>
                <a:latin typeface="Montserrat"/>
              </a:rPr>
              <a:t>2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7605566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0ACC6"/>
                </a:solidFill>
                <a:latin typeface="Montserrat"/>
              </a:rPr>
              <a:t>Event Hub (Rust)</a:t>
            </a:r>
          </a:p>
        </p:txBody>
      </p:sp>
      <p:sp>
        <p:nvSpPr>
          <p:cNvPr id="17" name="Forma card borda"/>
          <p:cNvSpPr/>
          <p:nvPr/>
        </p:nvSpPr>
        <p:spPr>
          <a:xfrm>
            <a:off x="12582432" y="1832000"/>
            <a:ext cx="4676866" cy="6130000"/>
          </a:xfrm>
          <a:prstGeom prst="roundRect">
            <a:avLst>
              <a:gd name="adj" fmla="val 4887"/>
            </a:avLst>
          </a:prstGeom>
          <a:solidFill>
            <a:srgbClr val="C2660B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rma card"/>
          <p:cNvSpPr/>
          <p:nvPr/>
        </p:nvSpPr>
        <p:spPr>
          <a:xfrm>
            <a:off x="12582432" y="1892000"/>
            <a:ext cx="4676866" cy="6070000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orma disco"/>
          <p:cNvSpPr/>
          <p:nvPr/>
        </p:nvSpPr>
        <p:spPr>
          <a:xfrm>
            <a:off x="12882432" y="2042000"/>
            <a:ext cx="380000" cy="38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13382432" y="2022000"/>
            <a:ext cx="3576866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42B"/>
                </a:solidFill>
                <a:latin typeface="Montserrat"/>
              </a:rPr>
              <a:t>Consumo</a:t>
            </a:r>
          </a:p>
        </p:txBody>
      </p:sp>
      <p:sp>
        <p:nvSpPr>
          <p:cNvPr id="21" name="Diagrama caixa"/>
          <p:cNvSpPr/>
          <p:nvPr/>
        </p:nvSpPr>
        <p:spPr>
          <a:xfrm>
            <a:off x="1248700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rma disco"/>
          <p:cNvSpPr/>
          <p:nvPr/>
        </p:nvSpPr>
        <p:spPr>
          <a:xfrm>
            <a:off x="1448700" y="279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L</a:t>
            </a:r>
          </a:p>
        </p:txBody>
      </p:sp>
      <p:sp>
        <p:nvSpPr>
          <p:cNvPr id="23" name="Texto"/>
          <p:cNvSpPr txBox="1"/>
          <p:nvPr/>
        </p:nvSpPr>
        <p:spPr>
          <a:xfrm>
            <a:off x="2208700" y="259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live-ms-java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AIS · OlhoVivo · CGESP</a:t>
            </a:r>
          </a:p>
        </p:txBody>
      </p:sp>
      <p:sp>
        <p:nvSpPr>
          <p:cNvPr id="24" name="Diagrama caixa"/>
          <p:cNvSpPr/>
          <p:nvPr/>
        </p:nvSpPr>
        <p:spPr>
          <a:xfrm>
            <a:off x="1248700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orma disco"/>
          <p:cNvSpPr/>
          <p:nvPr/>
        </p:nvSpPr>
        <p:spPr>
          <a:xfrm>
            <a:off x="1448700" y="415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V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2208700" y="395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virtual-ms-java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gêmeo do campus · Vaadin</a:t>
            </a:r>
          </a:p>
        </p:txBody>
      </p:sp>
      <p:sp>
        <p:nvSpPr>
          <p:cNvPr id="27" name="Diagrama caixa"/>
          <p:cNvSpPr/>
          <p:nvPr/>
        </p:nvSpPr>
        <p:spPr>
          <a:xfrm>
            <a:off x="1248700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orma disco"/>
          <p:cNvSpPr/>
          <p:nvPr/>
        </p:nvSpPr>
        <p:spPr>
          <a:xfrm>
            <a:off x="1448700" y="5512000"/>
            <a:ext cx="560000" cy="560000"/>
          </a:xfrm>
          <a:prstGeom prst="ellipse">
            <a:avLst/>
          </a:prstGeom>
          <a:solidFill>
            <a:srgbClr val="E6E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B0ACC6"/>
                </a:solidFill>
                <a:latin typeface="Montserrat"/>
              </a:rPr>
              <a:t>C</a:t>
            </a:r>
          </a:p>
        </p:txBody>
      </p:sp>
      <p:sp>
        <p:nvSpPr>
          <p:cNvPr id="29" name="Texto"/>
          <p:cNvSpPr txBox="1"/>
          <p:nvPr/>
        </p:nvSpPr>
        <p:spPr>
          <a:xfrm>
            <a:off x="2208700" y="5312000"/>
            <a:ext cx="31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constructive-ms-python</a:t>
            </a:r>
          </a:p>
          <a:p>
            <a:pPr algn="l"/>
            <a:r>
              <a:rPr sz="1400">
                <a:solidFill>
                  <a:srgbClr val="ADA8CF"/>
                </a:solidFill>
                <a:latin typeface="Consolas"/>
              </a:rPr>
              <a:t>drone AirSim + LLM</a:t>
            </a:r>
          </a:p>
        </p:txBody>
      </p:sp>
      <p:sp>
        <p:nvSpPr>
          <p:cNvPr id="30" name="Diagrama caixa"/>
          <p:cNvSpPr/>
          <p:nvPr/>
        </p:nvSpPr>
        <p:spPr>
          <a:xfrm>
            <a:off x="1248700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o"/>
          <p:cNvSpPr txBox="1"/>
          <p:nvPr/>
        </p:nvSpPr>
        <p:spPr>
          <a:xfrm>
            <a:off x="1408700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+ novo adaptador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ponto de extensão</a:t>
            </a:r>
          </a:p>
        </p:txBody>
      </p:sp>
      <p:cxnSp>
        <p:nvCxnSpPr>
          <p:cNvPr id="32" name="Diagrama linha"/>
          <p:cNvCxnSpPr/>
          <p:nvPr/>
        </p:nvCxnSpPr>
        <p:spPr>
          <a:xfrm>
            <a:off x="5485566" y="3072000"/>
            <a:ext cx="770000" cy="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grama origem"/>
          <p:cNvSpPr/>
          <p:nvPr/>
        </p:nvSpPr>
        <p:spPr>
          <a:xfrm>
            <a:off x="5410566" y="2997000"/>
            <a:ext cx="150000" cy="150000"/>
          </a:xfrm>
          <a:prstGeom prst="ellipse">
            <a:avLst/>
          </a:prstGeom>
          <a:solidFill>
            <a:srgbClr val="D6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Diagrama linha"/>
          <p:cNvCxnSpPr/>
          <p:nvPr/>
        </p:nvCxnSpPr>
        <p:spPr>
          <a:xfrm>
            <a:off x="5485566" y="4432000"/>
            <a:ext cx="770000" cy="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grama origem"/>
          <p:cNvSpPr/>
          <p:nvPr/>
        </p:nvSpPr>
        <p:spPr>
          <a:xfrm>
            <a:off x="5410566" y="4357000"/>
            <a:ext cx="150000" cy="150000"/>
          </a:xfrm>
          <a:prstGeom prst="ellipse">
            <a:avLst/>
          </a:prstGeom>
          <a:solidFill>
            <a:srgbClr val="D6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Diagrama linha"/>
          <p:cNvCxnSpPr/>
          <p:nvPr/>
        </p:nvCxnSpPr>
        <p:spPr>
          <a:xfrm>
            <a:off x="5485566" y="5792000"/>
            <a:ext cx="770000" cy="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origem"/>
          <p:cNvSpPr/>
          <p:nvPr/>
        </p:nvSpPr>
        <p:spPr>
          <a:xfrm>
            <a:off x="5410566" y="5717000"/>
            <a:ext cx="150000" cy="150000"/>
          </a:xfrm>
          <a:prstGeom prst="ellipse">
            <a:avLst/>
          </a:prstGeom>
          <a:solidFill>
            <a:srgbClr val="D6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Diagrama linha"/>
          <p:cNvCxnSpPr/>
          <p:nvPr/>
        </p:nvCxnSpPr>
        <p:spPr>
          <a:xfrm>
            <a:off x="6255566" y="3072000"/>
            <a:ext cx="0" cy="2720000"/>
          </a:xfrm>
          <a:prstGeom prst="line">
            <a:avLst/>
          </a:prstGeom>
          <a:ln w="25400" cap="rnd">
            <a:solidFill>
              <a:srgbClr val="D6D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iagrama seta"/>
          <p:cNvCxnSpPr/>
          <p:nvPr/>
        </p:nvCxnSpPr>
        <p:spPr>
          <a:xfrm>
            <a:off x="6255566" y="3072000"/>
            <a:ext cx="770000" cy="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orma etiqueta"/>
          <p:cNvSpPr/>
          <p:nvPr/>
        </p:nvSpPr>
        <p:spPr>
          <a:xfrm>
            <a:off x="5535566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F1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5535566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ACC6"/>
                </a:solidFill>
                <a:latin typeface="Consolas"/>
              </a:rPr>
              <a:t>gRPC</a:t>
            </a:r>
          </a:p>
        </p:txBody>
      </p:sp>
      <p:sp>
        <p:nvSpPr>
          <p:cNvPr id="42" name="Diagrama caixa"/>
          <p:cNvSpPr/>
          <p:nvPr/>
        </p:nvSpPr>
        <p:spPr>
          <a:xfrm>
            <a:off x="7025566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o"/>
          <p:cNvSpPr txBox="1"/>
          <p:nvPr/>
        </p:nvSpPr>
        <p:spPr>
          <a:xfrm>
            <a:off x="7185566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gRPC ingestion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contrato .proto</a:t>
            </a:r>
          </a:p>
        </p:txBody>
      </p:sp>
      <p:sp>
        <p:nvSpPr>
          <p:cNvPr id="44" name="Diagrama caixa"/>
          <p:cNvSpPr/>
          <p:nvPr/>
        </p:nvSpPr>
        <p:spPr>
          <a:xfrm>
            <a:off x="7025566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o"/>
          <p:cNvSpPr txBox="1"/>
          <p:nvPr/>
        </p:nvSpPr>
        <p:spPr>
          <a:xfrm>
            <a:off x="7185566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Pub/Sub router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roteamento por tópico</a:t>
            </a:r>
          </a:p>
        </p:txBody>
      </p:sp>
      <p:cxnSp>
        <p:nvCxnSpPr>
          <p:cNvPr id="46" name="Diagrama seta"/>
          <p:cNvCxnSpPr/>
          <p:nvPr/>
        </p:nvCxnSpPr>
        <p:spPr>
          <a:xfrm>
            <a:off x="9143999" y="355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grama caixa"/>
          <p:cNvSpPr/>
          <p:nvPr/>
        </p:nvSpPr>
        <p:spPr>
          <a:xfrm>
            <a:off x="7025566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o"/>
          <p:cNvSpPr txBox="1"/>
          <p:nvPr/>
        </p:nvSpPr>
        <p:spPr>
          <a:xfrm>
            <a:off x="7185566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Transactional Outbox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evento + outbox, 1 transação</a:t>
            </a:r>
          </a:p>
        </p:txBody>
      </p:sp>
      <p:cxnSp>
        <p:nvCxnSpPr>
          <p:cNvPr id="49" name="Diagrama seta"/>
          <p:cNvCxnSpPr/>
          <p:nvPr/>
        </p:nvCxnSpPr>
        <p:spPr>
          <a:xfrm>
            <a:off x="9143999" y="491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iagrama caixa"/>
          <p:cNvSpPr/>
          <p:nvPr/>
        </p:nvSpPr>
        <p:spPr>
          <a:xfrm>
            <a:off x="7025566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1EFF8"/>
          </a:solidFill>
          <a:ln w="11906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o"/>
          <p:cNvSpPr txBox="1"/>
          <p:nvPr/>
        </p:nvSpPr>
        <p:spPr>
          <a:xfrm>
            <a:off x="7185566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E98C6"/>
                </a:solidFill>
                <a:latin typeface="Montserrat"/>
              </a:rPr>
              <a:t>Poller 500 ms</a:t>
            </a:r>
          </a:p>
          <a:p>
            <a:pPr algn="ctr"/>
            <a:r>
              <a:rPr sz="1400">
                <a:solidFill>
                  <a:srgbClr val="ADA8CF"/>
                </a:solidFill>
                <a:latin typeface="Consolas"/>
              </a:rPr>
              <a:t>publica · at-least-once</a:t>
            </a:r>
          </a:p>
        </p:txBody>
      </p:sp>
      <p:cxnSp>
        <p:nvCxnSpPr>
          <p:cNvPr id="52" name="Diagrama seta"/>
          <p:cNvCxnSpPr/>
          <p:nvPr/>
        </p:nvCxnSpPr>
        <p:spPr>
          <a:xfrm>
            <a:off x="9143999" y="6272000"/>
            <a:ext cx="0" cy="400000"/>
          </a:xfrm>
          <a:prstGeom prst="line">
            <a:avLst/>
          </a:prstGeom>
          <a:ln w="25400" cap="rnd">
            <a:solidFill>
              <a:srgbClr val="D6D2E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iagrama linha"/>
          <p:cNvCxnSpPr/>
          <p:nvPr/>
        </p:nvCxnSpPr>
        <p:spPr>
          <a:xfrm>
            <a:off x="11262432" y="4432000"/>
            <a:ext cx="513333" cy="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grama origem"/>
          <p:cNvSpPr/>
          <p:nvPr/>
        </p:nvSpPr>
        <p:spPr>
          <a:xfrm>
            <a:off x="11187432" y="4357000"/>
            <a:ext cx="150000" cy="15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Diagrama linha"/>
          <p:cNvCxnSpPr/>
          <p:nvPr/>
        </p:nvCxnSpPr>
        <p:spPr>
          <a:xfrm flipV="1">
            <a:off x="11775765" y="3072000"/>
            <a:ext cx="0" cy="136000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iagrama seta"/>
          <p:cNvCxnSpPr/>
          <p:nvPr/>
        </p:nvCxnSpPr>
        <p:spPr>
          <a:xfrm>
            <a:off x="11775765" y="3072000"/>
            <a:ext cx="1026667" cy="0"/>
          </a:xfrm>
          <a:prstGeom prst="line">
            <a:avLst/>
          </a:prstGeom>
          <a:ln w="38100" cap="rnd">
            <a:solidFill>
              <a:srgbClr val="C2660B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Diagrama linha"/>
          <p:cNvCxnSpPr/>
          <p:nvPr/>
        </p:nvCxnSpPr>
        <p:spPr>
          <a:xfrm>
            <a:off x="11262432" y="7152000"/>
            <a:ext cx="1026666" cy="0"/>
          </a:xfrm>
          <a:prstGeom prst="line">
            <a:avLst/>
          </a:prstGeom>
          <a:ln w="38100" cap="rnd">
            <a:solidFill>
              <a:srgbClr val="C26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iagrama origem"/>
          <p:cNvSpPr/>
          <p:nvPr/>
        </p:nvSpPr>
        <p:spPr>
          <a:xfrm>
            <a:off x="11187432" y="7077000"/>
            <a:ext cx="150000" cy="15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Diagrama linha"/>
          <p:cNvCxnSpPr/>
          <p:nvPr/>
        </p:nvCxnSpPr>
        <p:spPr>
          <a:xfrm flipV="1">
            <a:off x="12289098" y="4432000"/>
            <a:ext cx="0" cy="2720000"/>
          </a:xfrm>
          <a:prstGeom prst="line">
            <a:avLst/>
          </a:prstGeom>
          <a:ln w="38100" cap="rnd">
            <a:solidFill>
              <a:srgbClr val="C26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Diagrama seta"/>
          <p:cNvCxnSpPr/>
          <p:nvPr/>
        </p:nvCxnSpPr>
        <p:spPr>
          <a:xfrm>
            <a:off x="12289098" y="4432000"/>
            <a:ext cx="513334" cy="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Diagrama seta"/>
          <p:cNvCxnSpPr/>
          <p:nvPr/>
        </p:nvCxnSpPr>
        <p:spPr>
          <a:xfrm>
            <a:off x="12289098" y="5792000"/>
            <a:ext cx="513334" cy="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orma etiqueta"/>
          <p:cNvSpPr/>
          <p:nvPr/>
        </p:nvSpPr>
        <p:spPr>
          <a:xfrm>
            <a:off x="11312432" y="2612000"/>
            <a:ext cx="1440000" cy="300000"/>
          </a:xfrm>
          <a:prstGeom prst="roundRect">
            <a:avLst>
              <a:gd name="adj" fmla="val 50000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o"/>
          <p:cNvSpPr txBox="1"/>
          <p:nvPr/>
        </p:nvSpPr>
        <p:spPr>
          <a:xfrm>
            <a:off x="11312432" y="2612000"/>
            <a:ext cx="144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2660B"/>
                </a:solidFill>
                <a:latin typeface="Consolas"/>
              </a:rPr>
              <a:t>broadcast</a:t>
            </a:r>
          </a:p>
        </p:txBody>
      </p:sp>
      <p:sp>
        <p:nvSpPr>
          <p:cNvPr id="64" name="Diagrama caixa"/>
          <p:cNvSpPr/>
          <p:nvPr/>
        </p:nvSpPr>
        <p:spPr>
          <a:xfrm>
            <a:off x="12802432" y="259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o"/>
          <p:cNvSpPr txBox="1"/>
          <p:nvPr/>
        </p:nvSpPr>
        <p:spPr>
          <a:xfrm>
            <a:off x="12962432" y="259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Sync subscribers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missões · gêmeo</a:t>
            </a:r>
          </a:p>
        </p:txBody>
      </p:sp>
      <p:sp>
        <p:nvSpPr>
          <p:cNvPr id="66" name="Diagrama caixa"/>
          <p:cNvSpPr/>
          <p:nvPr/>
        </p:nvSpPr>
        <p:spPr>
          <a:xfrm>
            <a:off x="12802432" y="395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o"/>
          <p:cNvSpPr txBox="1"/>
          <p:nvPr/>
        </p:nvSpPr>
        <p:spPr>
          <a:xfrm>
            <a:off x="12962432" y="395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Write stores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onsolas"/>
              </a:rPr>
              <a:t>ESCRITA · MariaDB · InfluxDB</a:t>
            </a:r>
          </a:p>
        </p:txBody>
      </p:sp>
      <p:sp>
        <p:nvSpPr>
          <p:cNvPr id="68" name="Diagrama caixa"/>
          <p:cNvSpPr/>
          <p:nvPr/>
        </p:nvSpPr>
        <p:spPr>
          <a:xfrm>
            <a:off x="12802432" y="531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o"/>
          <p:cNvSpPr txBox="1"/>
          <p:nvPr/>
        </p:nvSpPr>
        <p:spPr>
          <a:xfrm>
            <a:off x="12962432" y="531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Read projections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LEITURA · eventhub_read</a:t>
            </a:r>
          </a:p>
        </p:txBody>
      </p:sp>
      <p:sp>
        <p:nvSpPr>
          <p:cNvPr id="70" name="Diagrama caixa"/>
          <p:cNvSpPr/>
          <p:nvPr/>
        </p:nvSpPr>
        <p:spPr>
          <a:xfrm>
            <a:off x="12802432" y="6672000"/>
            <a:ext cx="4236866" cy="960000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21431">
            <a:solidFill>
              <a:srgbClr val="C26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o"/>
          <p:cNvSpPr txBox="1"/>
          <p:nvPr/>
        </p:nvSpPr>
        <p:spPr>
          <a:xfrm>
            <a:off x="12962432" y="6672000"/>
            <a:ext cx="3916866" cy="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2B"/>
                </a:solidFill>
                <a:latin typeface="Montserrat"/>
              </a:rPr>
              <a:t>Grafana · Vaadin</a:t>
            </a:r>
          </a:p>
          <a:p>
            <a:pPr algn="ctr"/>
            <a:r>
              <a:rPr sz="1400">
                <a:solidFill>
                  <a:srgbClr val="55546E"/>
                </a:solidFill>
                <a:latin typeface="Consolas"/>
              </a:rPr>
              <a:t>dashboards e gêmeo</a:t>
            </a:r>
          </a:p>
        </p:txBody>
      </p:sp>
      <p:cxnSp>
        <p:nvCxnSpPr>
          <p:cNvPr id="72" name="Diagrama seta"/>
          <p:cNvCxnSpPr/>
          <p:nvPr/>
        </p:nvCxnSpPr>
        <p:spPr>
          <a:xfrm>
            <a:off x="14920865" y="6272000"/>
            <a:ext cx="0" cy="400000"/>
          </a:xfrm>
          <a:prstGeom prst="line">
            <a:avLst/>
          </a:prstGeom>
          <a:ln w="38100" cap="rnd">
            <a:solidFill>
              <a:srgbClr val="C2660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orma síntese"/>
          <p:cNvSpPr/>
          <p:nvPr/>
        </p:nvSpPr>
        <p:spPr>
          <a:xfrm>
            <a:off x="1028700" y="8262000"/>
            <a:ext cx="16230600" cy="820000"/>
          </a:xfrm>
          <a:prstGeom prst="roundRect">
            <a:avLst>
              <a:gd name="adj" fmla="val 50000"/>
            </a:avLst>
          </a:prstGeom>
          <a:solidFill>
            <a:srgbClr val="FC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o"/>
          <p:cNvSpPr txBox="1"/>
          <p:nvPr/>
        </p:nvSpPr>
        <p:spPr>
          <a:xfrm>
            <a:off x="1548700" y="8262000"/>
            <a:ext cx="1519060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C2660B"/>
                </a:solidFill>
                <a:latin typeface="Consolas"/>
              </a:rPr>
              <a:t>CAMADA 3   </a:t>
            </a:r>
            <a:r>
              <a:rPr sz="2000">
                <a:solidFill>
                  <a:srgbClr val="14142B"/>
                </a:solidFill>
                <a:latin typeface="Montserrat"/>
              </a:rPr>
              <a:t>Escrita em MariaDB e InfluxDB; leitura em projeções que alimentam Grafana e gêmeo.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Seis módulos em três linguagens; cinco descartes.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IMPLEMENTAÇÃO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12</a:t>
            </a:r>
          </a:p>
        </p:txBody>
      </p:sp>
      <p:sp>
        <p:nvSpPr>
          <p:cNvPr id="11" name="Forma card"/>
          <p:cNvSpPr/>
          <p:nvPr/>
        </p:nvSpPr>
        <p:spPr>
          <a:xfrm>
            <a:off x="1028700" y="1750000"/>
            <a:ext cx="9000000" cy="74500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  <a:effectLst>
            <a:outerShdw blurRad="182880" dist="57150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o"/>
          <p:cNvSpPr txBox="1"/>
          <p:nvPr/>
        </p:nvSpPr>
        <p:spPr>
          <a:xfrm>
            <a:off x="1428700" y="208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46E"/>
                </a:solidFill>
                <a:latin typeface="Consolas"/>
              </a:rPr>
              <a:t>MÓDULO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5428700" y="2080000"/>
            <a:ext cx="4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46E"/>
                </a:solidFill>
                <a:latin typeface="Consolas"/>
              </a:rPr>
              <a:t>STACK · PAPEL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428700" y="2550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proto-shared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5428700" y="2550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.proto · gRPC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Contrato canônico</a:t>
            </a:r>
          </a:p>
        </p:txBody>
      </p:sp>
      <p:sp>
        <p:nvSpPr>
          <p:cNvPr id="16" name="Linha"/>
          <p:cNvSpPr/>
          <p:nvPr/>
        </p:nvSpPr>
        <p:spPr>
          <a:xfrm>
            <a:off x="1428700" y="3625000"/>
            <a:ext cx="8200000" cy="10000"/>
          </a:xfrm>
          <a:prstGeom prst="rect">
            <a:avLst/>
          </a:prstGeom>
          <a:solidFill>
            <a:srgbClr val="E4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1428700" y="3625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event-hub-ms-rust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5428700" y="3625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Rust · Transactional Outbox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Barramento, caminho quente</a:t>
            </a:r>
          </a:p>
        </p:txBody>
      </p:sp>
      <p:sp>
        <p:nvSpPr>
          <p:cNvPr id="19" name="Linha"/>
          <p:cNvSpPr/>
          <p:nvPr/>
        </p:nvSpPr>
        <p:spPr>
          <a:xfrm>
            <a:off x="1428700" y="4700000"/>
            <a:ext cx="8200000" cy="10000"/>
          </a:xfrm>
          <a:prstGeom prst="rect">
            <a:avLst/>
          </a:prstGeom>
          <a:solidFill>
            <a:srgbClr val="E4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o"/>
          <p:cNvSpPr txBox="1"/>
          <p:nvPr/>
        </p:nvSpPr>
        <p:spPr>
          <a:xfrm>
            <a:off x="1428700" y="4700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live-ms-java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5428700" y="4700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Java 25 · Spring Boot 4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Adaptadores AIS · OlhoVivo · CGESP</a:t>
            </a:r>
          </a:p>
        </p:txBody>
      </p:sp>
      <p:sp>
        <p:nvSpPr>
          <p:cNvPr id="22" name="Linha"/>
          <p:cNvSpPr/>
          <p:nvPr/>
        </p:nvSpPr>
        <p:spPr>
          <a:xfrm>
            <a:off x="1428700" y="5775000"/>
            <a:ext cx="8200000" cy="10000"/>
          </a:xfrm>
          <a:prstGeom prst="rect">
            <a:avLst/>
          </a:prstGeom>
          <a:solidFill>
            <a:srgbClr val="E4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o"/>
          <p:cNvSpPr txBox="1"/>
          <p:nvPr/>
        </p:nvSpPr>
        <p:spPr>
          <a:xfrm>
            <a:off x="1428700" y="5775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virtual-ms-java</a:t>
            </a:r>
          </a:p>
        </p:txBody>
      </p:sp>
      <p:sp>
        <p:nvSpPr>
          <p:cNvPr id="24" name="Texto"/>
          <p:cNvSpPr txBox="1"/>
          <p:nvPr/>
        </p:nvSpPr>
        <p:spPr>
          <a:xfrm>
            <a:off x="5428700" y="5775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Java · Vaadin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Gêmeo digital do campus</a:t>
            </a:r>
          </a:p>
        </p:txBody>
      </p:sp>
      <p:sp>
        <p:nvSpPr>
          <p:cNvPr id="25" name="Linha"/>
          <p:cNvSpPr/>
          <p:nvPr/>
        </p:nvSpPr>
        <p:spPr>
          <a:xfrm>
            <a:off x="1428700" y="6850000"/>
            <a:ext cx="8200000" cy="10000"/>
          </a:xfrm>
          <a:prstGeom prst="rect">
            <a:avLst/>
          </a:prstGeom>
          <a:solidFill>
            <a:srgbClr val="E4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o"/>
          <p:cNvSpPr txBox="1"/>
          <p:nvPr/>
        </p:nvSpPr>
        <p:spPr>
          <a:xfrm>
            <a:off x="1428700" y="6850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constructive-ms-python</a:t>
            </a:r>
          </a:p>
        </p:txBody>
      </p:sp>
      <p:sp>
        <p:nvSpPr>
          <p:cNvPr id="27" name="Texto"/>
          <p:cNvSpPr txBox="1"/>
          <p:nvPr/>
        </p:nvSpPr>
        <p:spPr>
          <a:xfrm>
            <a:off x="5428700" y="6850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Python · AirSim · Ollama/NIM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Missões do drone</a:t>
            </a:r>
          </a:p>
        </p:txBody>
      </p:sp>
      <p:sp>
        <p:nvSpPr>
          <p:cNvPr id="28" name="Linha"/>
          <p:cNvSpPr/>
          <p:nvPr/>
        </p:nvSpPr>
        <p:spPr>
          <a:xfrm>
            <a:off x="1428700" y="7925000"/>
            <a:ext cx="8200000" cy="10000"/>
          </a:xfrm>
          <a:prstGeom prst="rect">
            <a:avLst/>
          </a:prstGeom>
          <a:solidFill>
            <a:srgbClr val="E4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o"/>
          <p:cNvSpPr txBox="1"/>
          <p:nvPr/>
        </p:nvSpPr>
        <p:spPr>
          <a:xfrm>
            <a:off x="1428700" y="7925000"/>
            <a:ext cx="39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42B"/>
                </a:solidFill>
                <a:latin typeface="Consolas"/>
              </a:rPr>
              <a:t>infra-local-shared</a:t>
            </a:r>
          </a:p>
        </p:txBody>
      </p:sp>
      <p:sp>
        <p:nvSpPr>
          <p:cNvPr id="30" name="Texto"/>
          <p:cNvSpPr txBox="1"/>
          <p:nvPr/>
        </p:nvSpPr>
        <p:spPr>
          <a:xfrm>
            <a:off x="5428700" y="7925000"/>
            <a:ext cx="4300000" cy="10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85BC7"/>
                </a:solidFill>
                <a:latin typeface="Montserrat"/>
              </a:rPr>
              <a:t>Docker Compose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Ambiente reprodutível</a:t>
            </a:r>
          </a:p>
        </p:txBody>
      </p:sp>
      <p:sp>
        <p:nvSpPr>
          <p:cNvPr id="31" name="Forma card borda"/>
          <p:cNvSpPr/>
          <p:nvPr/>
        </p:nvSpPr>
        <p:spPr>
          <a:xfrm>
            <a:off x="10428700" y="1750000"/>
            <a:ext cx="6830600" cy="7450000"/>
          </a:xfrm>
          <a:prstGeom prst="roundRect">
            <a:avLst>
              <a:gd name="adj" fmla="val 3346"/>
            </a:avLst>
          </a:prstGeom>
          <a:solidFill>
            <a:srgbClr val="C0408F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orma card"/>
          <p:cNvSpPr/>
          <p:nvPr/>
        </p:nvSpPr>
        <p:spPr>
          <a:xfrm>
            <a:off x="10428700" y="1810000"/>
            <a:ext cx="6830600" cy="73900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o"/>
          <p:cNvSpPr txBox="1"/>
          <p:nvPr/>
        </p:nvSpPr>
        <p:spPr>
          <a:xfrm>
            <a:off x="10828700" y="2130000"/>
            <a:ext cx="603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408F"/>
                </a:solidFill>
                <a:latin typeface="Consolas"/>
              </a:rPr>
              <a:t>ALTERNATIVAS DESCARTADAS</a:t>
            </a:r>
          </a:p>
        </p:txBody>
      </p:sp>
      <p:sp>
        <p:nvSpPr>
          <p:cNvPr id="34" name="Texto"/>
          <p:cNvSpPr txBox="1"/>
          <p:nvPr/>
        </p:nvSpPr>
        <p:spPr>
          <a:xfrm>
            <a:off x="10828700" y="2650000"/>
            <a:ext cx="6030600" cy="1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0408F"/>
                </a:solidFill>
                <a:latin typeface="Montserrat"/>
              </a:rPr>
              <a:t>✕  </a:t>
            </a:r>
            <a:r>
              <a:rPr sz="1900" b="1">
                <a:solidFill>
                  <a:srgbClr val="14142B"/>
                </a:solidFill>
                <a:latin typeface="Montserrat"/>
              </a:rPr>
              <a:t>RTI Portico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é aberta, mas a curva OMT/FOM pesa</a:t>
            </a:r>
          </a:p>
        </p:txBody>
      </p:sp>
      <p:sp>
        <p:nvSpPr>
          <p:cNvPr id="35" name="Texto"/>
          <p:cNvSpPr txBox="1"/>
          <p:nvPr/>
        </p:nvSpPr>
        <p:spPr>
          <a:xfrm>
            <a:off x="10828700" y="3910000"/>
            <a:ext cx="6030600" cy="1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0408F"/>
                </a:solidFill>
                <a:latin typeface="Montserrat"/>
              </a:rPr>
              <a:t>✕  </a:t>
            </a:r>
            <a:r>
              <a:rPr sz="1900" b="1">
                <a:solidFill>
                  <a:srgbClr val="14142B"/>
                </a:solidFill>
                <a:latin typeface="Montserrat"/>
              </a:rPr>
              <a:t>Kafka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operação de cluster pesada para o escopo</a:t>
            </a:r>
          </a:p>
        </p:txBody>
      </p:sp>
      <p:sp>
        <p:nvSpPr>
          <p:cNvPr id="36" name="Texto"/>
          <p:cNvSpPr txBox="1"/>
          <p:nvPr/>
        </p:nvSpPr>
        <p:spPr>
          <a:xfrm>
            <a:off x="10828700" y="5170000"/>
            <a:ext cx="6030600" cy="1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0408F"/>
                </a:solidFill>
                <a:latin typeface="Montserrat"/>
              </a:rPr>
              <a:t>✕  </a:t>
            </a:r>
            <a:r>
              <a:rPr sz="1900" b="1">
                <a:solidFill>
                  <a:srgbClr val="14142B"/>
                </a:solidFill>
                <a:latin typeface="Montserrat"/>
              </a:rPr>
              <a:t>REST síncrono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não oferece log nem replay por si só</a:t>
            </a:r>
          </a:p>
        </p:txBody>
      </p:sp>
      <p:sp>
        <p:nvSpPr>
          <p:cNvPr id="37" name="Texto"/>
          <p:cNvSpPr txBox="1"/>
          <p:nvPr/>
        </p:nvSpPr>
        <p:spPr>
          <a:xfrm>
            <a:off x="10828700" y="6430000"/>
            <a:ext cx="6030600" cy="1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0408F"/>
                </a:solidFill>
                <a:latin typeface="Montserrat"/>
              </a:rPr>
              <a:t>✕  </a:t>
            </a:r>
            <a:r>
              <a:rPr sz="1900" b="1">
                <a:solidFill>
                  <a:srgbClr val="14142B"/>
                </a:solidFill>
                <a:latin typeface="Montserrat"/>
              </a:rPr>
              <a:t>Monolito Java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forçaria Java onde AirSim e o LLM vivem em Python</a:t>
            </a:r>
          </a:p>
        </p:txBody>
      </p:sp>
      <p:sp>
        <p:nvSpPr>
          <p:cNvPr id="38" name="Texto"/>
          <p:cNvSpPr txBox="1"/>
          <p:nvPr/>
        </p:nvSpPr>
        <p:spPr>
          <a:xfrm>
            <a:off x="10828700" y="7690000"/>
            <a:ext cx="6030600" cy="1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0408F"/>
                </a:solidFill>
                <a:latin typeface="Montserrat"/>
              </a:rPr>
              <a:t>✕  </a:t>
            </a:r>
            <a:r>
              <a:rPr sz="1900" b="1">
                <a:solidFill>
                  <a:srgbClr val="14142B"/>
                </a:solidFill>
                <a:latin typeface="Montserrat"/>
              </a:rPr>
              <a:t>Banco compartilhado</a:t>
            </a:r>
          </a:p>
          <a:p>
            <a:pPr algn="l"/>
            <a:r>
              <a:rPr sz="1600">
                <a:solidFill>
                  <a:srgbClr val="2C2C45"/>
                </a:solidFill>
                <a:latin typeface="Montserrat"/>
              </a:rPr>
              <a:t>acoplaria escrita e leitura, contra o CQRS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Proposta vs. HLA/DIS em cinco critérios.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2 · PROPOSTA × HLA/DIS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13</a:t>
            </a:r>
          </a:p>
        </p:txBody>
      </p:sp>
      <p:sp>
        <p:nvSpPr>
          <p:cNvPr id="11" name="Diagrama caixa"/>
          <p:cNvSpPr/>
          <p:nvPr/>
        </p:nvSpPr>
        <p:spPr>
          <a:xfrm>
            <a:off x="4348700" y="1707000"/>
            <a:ext cx="6135300" cy="520000"/>
          </a:xfrm>
          <a:prstGeom prst="roundRect">
            <a:avLst>
              <a:gd name="adj" fmla="val 25000"/>
            </a:avLst>
          </a:prstGeom>
          <a:solidFill>
            <a:srgbClr val="3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o"/>
          <p:cNvSpPr txBox="1"/>
          <p:nvPr/>
        </p:nvSpPr>
        <p:spPr>
          <a:xfrm>
            <a:off x="4508700" y="1707000"/>
            <a:ext cx="58153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HLA / DIS</a:t>
            </a:r>
          </a:p>
        </p:txBody>
      </p:sp>
      <p:sp>
        <p:nvSpPr>
          <p:cNvPr id="13" name="Diagrama caixa"/>
          <p:cNvSpPr/>
          <p:nvPr/>
        </p:nvSpPr>
        <p:spPr>
          <a:xfrm>
            <a:off x="11004000" y="1707000"/>
            <a:ext cx="6135300" cy="520000"/>
          </a:xfrm>
          <a:prstGeom prst="roundRect">
            <a:avLst>
              <a:gd name="adj" fmla="val 25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o"/>
          <p:cNvSpPr txBox="1"/>
          <p:nvPr/>
        </p:nvSpPr>
        <p:spPr>
          <a:xfrm>
            <a:off x="11164000" y="1707000"/>
            <a:ext cx="58153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PROPOSTA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1028700" y="2377000"/>
            <a:ext cx="32000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142B"/>
                </a:solidFill>
                <a:latin typeface="Montserrat"/>
              </a:rPr>
              <a:t>Custo de adoção</a:t>
            </a:r>
          </a:p>
        </p:txBody>
      </p:sp>
      <p:sp>
        <p:nvSpPr>
          <p:cNvPr id="16" name="Diagrama caixa"/>
          <p:cNvSpPr/>
          <p:nvPr/>
        </p:nvSpPr>
        <p:spPr>
          <a:xfrm>
            <a:off x="4348700" y="23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4568700" y="23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RTIs abertas e comerciais existem; exige escolher a RTI e o FOM</a:t>
            </a:r>
          </a:p>
        </p:txBody>
      </p:sp>
      <p:cxnSp>
        <p:nvCxnSpPr>
          <p:cNvPr id="18" name="Diagrama seta"/>
          <p:cNvCxnSpPr/>
          <p:nvPr/>
        </p:nvCxnSpPr>
        <p:spPr>
          <a:xfrm>
            <a:off x="10574000" y="2937000"/>
            <a:ext cx="340000" cy="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grama caixa"/>
          <p:cNvSpPr/>
          <p:nvPr/>
        </p:nvSpPr>
        <p:spPr>
          <a:xfrm>
            <a:off x="11004000" y="23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o"/>
          <p:cNvSpPr txBox="1"/>
          <p:nvPr/>
        </p:nvSpPr>
        <p:spPr>
          <a:xfrm>
            <a:off x="11224000" y="23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Componentes centrais abertos; exige operar o Event Hub e a stack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1028700" y="3627000"/>
            <a:ext cx="32000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142B"/>
                </a:solidFill>
                <a:latin typeface="Montserrat"/>
              </a:rPr>
              <a:t>Modelo de dados</a:t>
            </a:r>
          </a:p>
        </p:txBody>
      </p:sp>
      <p:sp>
        <p:nvSpPr>
          <p:cNvPr id="22" name="Diagrama caixa"/>
          <p:cNvSpPr/>
          <p:nvPr/>
        </p:nvSpPr>
        <p:spPr>
          <a:xfrm>
            <a:off x="4348700" y="362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o"/>
          <p:cNvSpPr txBox="1"/>
          <p:nvPr/>
        </p:nvSpPr>
        <p:spPr>
          <a:xfrm>
            <a:off x="4568700" y="362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HLA: FOM formal, semântica compartilhada. DIS: PDUs fixas</a:t>
            </a:r>
          </a:p>
        </p:txBody>
      </p:sp>
      <p:cxnSp>
        <p:nvCxnSpPr>
          <p:cNvPr id="24" name="Diagrama seta"/>
          <p:cNvCxnSpPr/>
          <p:nvPr/>
        </p:nvCxnSpPr>
        <p:spPr>
          <a:xfrm>
            <a:off x="10574000" y="4187000"/>
            <a:ext cx="340000" cy="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grama caixa"/>
          <p:cNvSpPr/>
          <p:nvPr/>
        </p:nvSpPr>
        <p:spPr>
          <a:xfrm>
            <a:off x="11004000" y="362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o"/>
          <p:cNvSpPr txBox="1"/>
          <p:nvPr/>
        </p:nvSpPr>
        <p:spPr>
          <a:xfrm>
            <a:off x="11224000" y="362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.proto próprio e flexível, sem semântica padronizada</a:t>
            </a:r>
          </a:p>
        </p:txBody>
      </p:sp>
      <p:sp>
        <p:nvSpPr>
          <p:cNvPr id="27" name="Texto"/>
          <p:cNvSpPr txBox="1"/>
          <p:nvPr/>
        </p:nvSpPr>
        <p:spPr>
          <a:xfrm>
            <a:off x="1028700" y="4877000"/>
            <a:ext cx="32000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142B"/>
                </a:solidFill>
                <a:latin typeface="Montserrat"/>
              </a:rPr>
              <a:t>Integração web e cloud</a:t>
            </a:r>
          </a:p>
        </p:txBody>
      </p:sp>
      <p:sp>
        <p:nvSpPr>
          <p:cNvPr id="28" name="Diagrama caixa"/>
          <p:cNvSpPr/>
          <p:nvPr/>
        </p:nvSpPr>
        <p:spPr>
          <a:xfrm>
            <a:off x="4348700" y="48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o"/>
          <p:cNvSpPr txBox="1"/>
          <p:nvPr/>
        </p:nvSpPr>
        <p:spPr>
          <a:xfrm>
            <a:off x="4568700" y="48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APIs padronizadas em C++ e Java; o resto, via ponte</a:t>
            </a:r>
          </a:p>
        </p:txBody>
      </p:sp>
      <p:cxnSp>
        <p:nvCxnSpPr>
          <p:cNvPr id="30" name="Diagrama seta"/>
          <p:cNvCxnSpPr/>
          <p:nvPr/>
        </p:nvCxnSpPr>
        <p:spPr>
          <a:xfrm>
            <a:off x="10574000" y="5437000"/>
            <a:ext cx="340000" cy="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grama caixa"/>
          <p:cNvSpPr/>
          <p:nvPr/>
        </p:nvSpPr>
        <p:spPr>
          <a:xfrm>
            <a:off x="11004000" y="48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o"/>
          <p:cNvSpPr txBox="1"/>
          <p:nvPr/>
        </p:nvSpPr>
        <p:spPr>
          <a:xfrm>
            <a:off x="11224000" y="48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gRPC e Grafana diretos; stubs Java, Python e Rust do mesmo .proto</a:t>
            </a:r>
          </a:p>
        </p:txBody>
      </p:sp>
      <p:sp>
        <p:nvSpPr>
          <p:cNvPr id="33" name="Texto"/>
          <p:cNvSpPr txBox="1"/>
          <p:nvPr/>
        </p:nvSpPr>
        <p:spPr>
          <a:xfrm>
            <a:off x="1028700" y="6127000"/>
            <a:ext cx="32000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4142B"/>
                </a:solidFill>
                <a:latin typeface="Montserrat"/>
              </a:rPr>
              <a:t>Observabilidade</a:t>
            </a:r>
          </a:p>
        </p:txBody>
      </p:sp>
      <p:sp>
        <p:nvSpPr>
          <p:cNvPr id="34" name="Diagrama caixa"/>
          <p:cNvSpPr/>
          <p:nvPr/>
        </p:nvSpPr>
        <p:spPr>
          <a:xfrm>
            <a:off x="4348700" y="612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o"/>
          <p:cNvSpPr txBox="1"/>
          <p:nvPr/>
        </p:nvSpPr>
        <p:spPr>
          <a:xfrm>
            <a:off x="4568700" y="612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HLA: MOM e loggers. DIS: captura de PDUs. Painéis exigem adaptador</a:t>
            </a:r>
          </a:p>
        </p:txBody>
      </p:sp>
      <p:cxnSp>
        <p:nvCxnSpPr>
          <p:cNvPr id="36" name="Diagrama seta"/>
          <p:cNvCxnSpPr/>
          <p:nvPr/>
        </p:nvCxnSpPr>
        <p:spPr>
          <a:xfrm>
            <a:off x="10574000" y="6687000"/>
            <a:ext cx="340000" cy="0"/>
          </a:xfrm>
          <a:prstGeom prst="line">
            <a:avLst/>
          </a:prstGeom>
          <a:ln w="38100" cap="rnd">
            <a:solidFill>
              <a:srgbClr val="685BC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caixa"/>
          <p:cNvSpPr/>
          <p:nvPr/>
        </p:nvSpPr>
        <p:spPr>
          <a:xfrm>
            <a:off x="11004000" y="612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21431">
            <a:solidFill>
              <a:srgbClr val="685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o"/>
          <p:cNvSpPr txBox="1"/>
          <p:nvPr/>
        </p:nvSpPr>
        <p:spPr>
          <a:xfrm>
            <a:off x="11224000" y="612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Projeções de leitura alimentam o Grafana; sem métricas de latência</a:t>
            </a:r>
          </a:p>
        </p:txBody>
      </p:sp>
      <p:sp>
        <p:nvSpPr>
          <p:cNvPr id="39" name="Texto"/>
          <p:cNvSpPr txBox="1"/>
          <p:nvPr/>
        </p:nvSpPr>
        <p:spPr>
          <a:xfrm>
            <a:off x="1028700" y="7377000"/>
            <a:ext cx="32000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C0408F"/>
                </a:solidFill>
                <a:latin typeface="Montserrat"/>
              </a:rPr>
              <a:t>Maturidade e garantias</a:t>
            </a:r>
          </a:p>
        </p:txBody>
      </p:sp>
      <p:sp>
        <p:nvSpPr>
          <p:cNvPr id="40" name="Diagrama caixa"/>
          <p:cNvSpPr/>
          <p:nvPr/>
        </p:nvSpPr>
        <p:spPr>
          <a:xfrm>
            <a:off x="4348700" y="73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o"/>
          <p:cNvSpPr txBox="1"/>
          <p:nvPr/>
        </p:nvSpPr>
        <p:spPr>
          <a:xfrm>
            <a:off x="4568700" y="73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>
                <a:solidFill>
                  <a:srgbClr val="14142B"/>
                </a:solidFill>
                <a:latin typeface="Montserrat"/>
              </a:rPr>
              <a:t>Padrões IEEE: gestão de tempo, escala e interoperabilidade entre fornecedores</a:t>
            </a:r>
          </a:p>
        </p:txBody>
      </p:sp>
      <p:cxnSp>
        <p:nvCxnSpPr>
          <p:cNvPr id="42" name="Diagrama seta"/>
          <p:cNvCxnSpPr/>
          <p:nvPr/>
        </p:nvCxnSpPr>
        <p:spPr>
          <a:xfrm>
            <a:off x="10574000" y="7937000"/>
            <a:ext cx="340000" cy="0"/>
          </a:xfrm>
          <a:prstGeom prst="line">
            <a:avLst/>
          </a:prstGeom>
          <a:ln w="38100" cap="rnd">
            <a:solidFill>
              <a:srgbClr val="C040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grama caixa"/>
          <p:cNvSpPr/>
          <p:nvPr/>
        </p:nvSpPr>
        <p:spPr>
          <a:xfrm>
            <a:off x="11004000" y="7377000"/>
            <a:ext cx="6135300" cy="1120000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21431">
            <a:solidFill>
              <a:srgbClr val="C04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o"/>
          <p:cNvSpPr txBox="1"/>
          <p:nvPr/>
        </p:nvSpPr>
        <p:spPr>
          <a:xfrm>
            <a:off x="11224000" y="7377000"/>
            <a:ext cx="5695300" cy="11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408F"/>
                </a:solidFill>
                <a:latin typeface="Montserrat"/>
              </a:rPr>
              <a:t>Protótipo: at-least-once, sem gestão de tempo, sem teste de escala</a:t>
            </a:r>
          </a:p>
        </p:txBody>
      </p:sp>
      <p:sp>
        <p:nvSpPr>
          <p:cNvPr id="45" name="Texto"/>
          <p:cNvSpPr txBox="1"/>
          <p:nvPr/>
        </p:nvSpPr>
        <p:spPr>
          <a:xfrm>
            <a:off x="1028700" y="8827000"/>
            <a:ext cx="162306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>
                <a:solidFill>
                  <a:srgbClr val="3D3A5C"/>
                </a:solidFill>
                <a:latin typeface="Montserrat"/>
              </a:rPr>
              <a:t>Comparação qualitativa dos autores: sem medição lado a lado nem validação estatística. Não substitui HLA/DIS.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PARTE 03 DE 04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14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028700" y="19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PARTE 03</a:t>
            </a:r>
          </a:p>
        </p:txBody>
      </p:sp>
      <p:sp>
        <p:nvSpPr>
          <p:cNvPr id="11" name="Progresso"/>
          <p:cNvSpPr/>
          <p:nvPr/>
        </p:nvSpPr>
        <p:spPr>
          <a:xfrm>
            <a:off x="29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o"/>
          <p:cNvSpPr/>
          <p:nvPr/>
        </p:nvSpPr>
        <p:spPr>
          <a:xfrm>
            <a:off x="39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o"/>
          <p:cNvSpPr/>
          <p:nvPr/>
        </p:nvSpPr>
        <p:spPr>
          <a:xfrm>
            <a:off x="50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gresso"/>
          <p:cNvSpPr/>
          <p:nvPr/>
        </p:nvSpPr>
        <p:spPr>
          <a:xfrm>
            <a:off x="60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DC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"/>
          <p:cNvSpPr txBox="1"/>
          <p:nvPr/>
        </p:nvSpPr>
        <p:spPr>
          <a:xfrm>
            <a:off x="7248700" y="1900000"/>
            <a:ext cx="1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546E"/>
                </a:solidFill>
                <a:latin typeface="Consolas"/>
              </a:rPr>
              <a:t>DE 04</a:t>
            </a:r>
          </a:p>
        </p:txBody>
      </p:sp>
      <p:sp>
        <p:nvSpPr>
          <p:cNvPr id="16" name="Numeral decorativo"/>
          <p:cNvSpPr txBox="1"/>
          <p:nvPr/>
        </p:nvSpPr>
        <p:spPr>
          <a:xfrm>
            <a:off x="878700" y="2730000"/>
            <a:ext cx="8000000" cy="5900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0" b="1">
                <a:solidFill>
                  <a:srgbClr val="E1DAF6"/>
                </a:solidFill>
                <a:latin typeface="Montserrat"/>
              </a:rPr>
              <a:t>03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8900000" y="5017072"/>
            <a:ext cx="835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PRÓXIMA SEÇÃO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8900000" y="5497072"/>
            <a:ext cx="8350000" cy="725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4142B"/>
                </a:solidFill>
                <a:latin typeface="Montserrat"/>
              </a:rPr>
              <a:t>Cenários em funcionamento</a:t>
            </a:r>
          </a:p>
        </p:txBody>
      </p:sp>
      <p:sp>
        <p:nvSpPr>
          <p:cNvPr id="19" name="Acento"/>
          <p:cNvSpPr/>
          <p:nvPr/>
        </p:nvSpPr>
        <p:spPr>
          <a:xfrm>
            <a:off x="8900000" y="6502928"/>
            <a:ext cx="110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Dados reais viram eventos de check-in e check-out.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3 · CENÁRIOS 1 E 2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15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028700" y="2164932"/>
            <a:ext cx="5170200" cy="1800000"/>
          </a:xfrm>
          <a:prstGeom prst="roundRect">
            <a:avLst>
              <a:gd name="adj" fmla="val 12700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028700" y="2224932"/>
            <a:ext cx="5170200" cy="1740000"/>
          </a:xfrm>
          <a:prstGeom prst="roundRect">
            <a:avLst>
              <a:gd name="adj" fmla="val 1313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1408700" y="2464932"/>
            <a:ext cx="4410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8B94"/>
                </a:solidFill>
                <a:latin typeface="Consolas"/>
              </a:rPr>
              <a:t>ADAPTADOR 01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408700" y="2784932"/>
            <a:ext cx="44102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42B"/>
                </a:solidFill>
                <a:latin typeface="Montserrat"/>
              </a:rPr>
              <a:t>AIS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1408700" y="3284932"/>
            <a:ext cx="44102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>
                <a:solidFill>
                  <a:srgbClr val="2C2C45"/>
                </a:solidFill>
                <a:latin typeface="Montserrat"/>
              </a:rPr>
              <a:t>Navios no canal · REST autenticada</a:t>
            </a:r>
          </a:p>
        </p:txBody>
      </p:sp>
      <p:sp>
        <p:nvSpPr>
          <p:cNvPr id="16" name="Forma card borda"/>
          <p:cNvSpPr/>
          <p:nvPr/>
        </p:nvSpPr>
        <p:spPr>
          <a:xfrm>
            <a:off x="6558900" y="2164932"/>
            <a:ext cx="5170200" cy="1800000"/>
          </a:xfrm>
          <a:prstGeom prst="roundRect">
            <a:avLst>
              <a:gd name="adj" fmla="val 12700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orma card"/>
          <p:cNvSpPr/>
          <p:nvPr/>
        </p:nvSpPr>
        <p:spPr>
          <a:xfrm>
            <a:off x="6558900" y="2224932"/>
            <a:ext cx="5170200" cy="1740000"/>
          </a:xfrm>
          <a:prstGeom prst="roundRect">
            <a:avLst>
              <a:gd name="adj" fmla="val 1313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o"/>
          <p:cNvSpPr txBox="1"/>
          <p:nvPr/>
        </p:nvSpPr>
        <p:spPr>
          <a:xfrm>
            <a:off x="6938900" y="2464932"/>
            <a:ext cx="4410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8B94"/>
                </a:solidFill>
                <a:latin typeface="Consolas"/>
              </a:rPr>
              <a:t>ADAPTADOR 02</a:t>
            </a:r>
          </a:p>
        </p:txBody>
      </p:sp>
      <p:sp>
        <p:nvSpPr>
          <p:cNvPr id="19" name="Texto"/>
          <p:cNvSpPr txBox="1"/>
          <p:nvPr/>
        </p:nvSpPr>
        <p:spPr>
          <a:xfrm>
            <a:off x="6938900" y="2784932"/>
            <a:ext cx="44102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42B"/>
                </a:solidFill>
                <a:latin typeface="Montserrat"/>
              </a:rPr>
              <a:t>SPTrans OlhoVivo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6938900" y="3284932"/>
            <a:ext cx="44102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>
                <a:solidFill>
                  <a:srgbClr val="2C2C45"/>
                </a:solidFill>
                <a:latin typeface="Montserrat"/>
              </a:rPr>
              <a:t>Ônibus em tempo real · API com cadastro</a:t>
            </a:r>
          </a:p>
        </p:txBody>
      </p:sp>
      <p:sp>
        <p:nvSpPr>
          <p:cNvPr id="21" name="Forma card borda"/>
          <p:cNvSpPr/>
          <p:nvPr/>
        </p:nvSpPr>
        <p:spPr>
          <a:xfrm>
            <a:off x="12089100" y="2164932"/>
            <a:ext cx="5170200" cy="1800000"/>
          </a:xfrm>
          <a:prstGeom prst="roundRect">
            <a:avLst>
              <a:gd name="adj" fmla="val 12700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rma card"/>
          <p:cNvSpPr/>
          <p:nvPr/>
        </p:nvSpPr>
        <p:spPr>
          <a:xfrm>
            <a:off x="12089100" y="2224932"/>
            <a:ext cx="5170200" cy="1740000"/>
          </a:xfrm>
          <a:prstGeom prst="roundRect">
            <a:avLst>
              <a:gd name="adj" fmla="val 1313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o"/>
          <p:cNvSpPr txBox="1"/>
          <p:nvPr/>
        </p:nvSpPr>
        <p:spPr>
          <a:xfrm>
            <a:off x="12469100" y="2464932"/>
            <a:ext cx="44102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8B94"/>
                </a:solidFill>
                <a:latin typeface="Consolas"/>
              </a:rPr>
              <a:t>ADAPTADOR 03</a:t>
            </a:r>
          </a:p>
        </p:txBody>
      </p:sp>
      <p:sp>
        <p:nvSpPr>
          <p:cNvPr id="24" name="Texto"/>
          <p:cNvSpPr txBox="1"/>
          <p:nvPr/>
        </p:nvSpPr>
        <p:spPr>
          <a:xfrm>
            <a:off x="12469100" y="2784932"/>
            <a:ext cx="44102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42B"/>
                </a:solidFill>
                <a:latin typeface="Montserrat"/>
              </a:rPr>
              <a:t>CGESP</a:t>
            </a:r>
          </a:p>
        </p:txBody>
      </p:sp>
      <p:sp>
        <p:nvSpPr>
          <p:cNvPr id="25" name="Texto"/>
          <p:cNvSpPr txBox="1"/>
          <p:nvPr/>
        </p:nvSpPr>
        <p:spPr>
          <a:xfrm>
            <a:off x="12469100" y="3284932"/>
            <a:ext cx="44102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>
                <a:solidFill>
                  <a:srgbClr val="2C2C45"/>
                </a:solidFill>
                <a:latin typeface="Montserrat"/>
              </a:rPr>
              <a:t>Alagamentos de SP · web scraping</a:t>
            </a:r>
          </a:p>
        </p:txBody>
      </p:sp>
      <p:sp>
        <p:nvSpPr>
          <p:cNvPr id="26" name="Forma card"/>
          <p:cNvSpPr/>
          <p:nvPr/>
        </p:nvSpPr>
        <p:spPr>
          <a:xfrm>
            <a:off x="1028700" y="4324932"/>
            <a:ext cx="16230600" cy="4424136"/>
          </a:xfrm>
          <a:prstGeom prst="roundRect">
            <a:avLst>
              <a:gd name="adj" fmla="val 5167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  <a:effectLst>
            <a:outerShdw blurRad="182880" dist="57150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agem Event Log" descr="eventlog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700" y="4574932"/>
            <a:ext cx="11300000" cy="3924136"/>
          </a:xfrm>
          <a:prstGeom prst="rect">
            <a:avLst/>
          </a:prstGeom>
        </p:spPr>
      </p:pic>
      <p:sp>
        <p:nvSpPr>
          <p:cNvPr id="28" name="Texto"/>
          <p:cNvSpPr txBox="1"/>
          <p:nvPr/>
        </p:nvSpPr>
        <p:spPr>
          <a:xfrm>
            <a:off x="12998700" y="4524932"/>
            <a:ext cx="3960600" cy="40241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85BC7"/>
                </a:solidFill>
                <a:latin typeface="Consolas"/>
              </a:rPr>
              <a:t>EVENT LOG REAL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C2C45"/>
                </a:solidFill>
                <a:latin typeface="Montserrat"/>
              </a:rPr>
              <a:t>Só eventos </a:t>
            </a:r>
            <a:r>
              <a:rPr sz="1800" b="1">
                <a:solidFill>
                  <a:srgbClr val="2E7D32"/>
                </a:solidFill>
                <a:latin typeface="Montserrat"/>
              </a:rPr>
              <a:t>LIVE</a:t>
            </a:r>
            <a:r>
              <a:rPr sz="1800">
                <a:solidFill>
                  <a:srgbClr val="2C2C45"/>
                </a:solidFill>
                <a:latin typeface="Montserrat"/>
              </a:rPr>
              <a:t> das fontes públicas.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7D32"/>
                </a:solidFill>
                <a:latin typeface="Montserrat"/>
              </a:rPr>
              <a:t>CHECKIN</a:t>
            </a:r>
            <a:r>
              <a:rPr sz="1800">
                <a:solidFill>
                  <a:srgbClr val="2C2C45"/>
                </a:solidFill>
                <a:latin typeface="Montserrat"/>
              </a:rPr>
              <a:t> = entrou numa área do gêmeo.</a:t>
            </a:r>
          </a:p>
          <a:p>
            <a:pPr algn="l"/>
            <a:r>
              <a:rPr sz="1800" b="1">
                <a:solidFill>
                  <a:srgbClr val="C0408F"/>
                </a:solidFill>
                <a:latin typeface="Montserrat"/>
              </a:rPr>
              <a:t>CHECKOUT</a:t>
            </a:r>
            <a:r>
              <a:rPr sz="1800">
                <a:solidFill>
                  <a:srgbClr val="2C2C45"/>
                </a:solidFill>
                <a:latin typeface="Montserrat"/>
              </a:rPr>
              <a:t> = saiu da área.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Um evento de ônibus aciona a missão do drone.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3 · CENÁRIO 3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16</a:t>
            </a:r>
          </a:p>
        </p:txBody>
      </p:sp>
      <p:pic>
        <p:nvPicPr>
          <p:cNvPr id="11" name="Vídeo drone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28700" y="2419500"/>
            <a:ext cx="10800000" cy="6075000"/>
          </a:xfrm>
          <a:prstGeom prst="roundRect">
            <a:avLst>
              <a:gd name="adj" fmla="val 3500"/>
            </a:avLst>
          </a:prstGeom>
          <a:ln w="25400">
            <a:solidFill>
              <a:srgbClr val="C6BDEF"/>
            </a:solidFill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</p:pic>
      <p:sp>
        <p:nvSpPr>
          <p:cNvPr id="12" name="Texto"/>
          <p:cNvSpPr txBox="1"/>
          <p:nvPr/>
        </p:nvSpPr>
        <p:spPr>
          <a:xfrm>
            <a:off x="12278700" y="2419500"/>
            <a:ext cx="498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60B"/>
                </a:solidFill>
                <a:latin typeface="Consolas"/>
              </a:rPr>
              <a:t>ENCADEAMENTO</a:t>
            </a:r>
          </a:p>
        </p:txBody>
      </p:sp>
      <p:sp>
        <p:nvSpPr>
          <p:cNvPr id="13" name="Forma disco"/>
          <p:cNvSpPr/>
          <p:nvPr/>
        </p:nvSpPr>
        <p:spPr>
          <a:xfrm>
            <a:off x="12278700" y="2869500"/>
            <a:ext cx="420000" cy="4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2838700" y="2849500"/>
            <a:ext cx="4420600" cy="108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O drone já patrulha no AirSim (Constructive).</a:t>
            </a:r>
          </a:p>
        </p:txBody>
      </p:sp>
      <p:sp>
        <p:nvSpPr>
          <p:cNvPr id="15" name="Forma disco"/>
          <p:cNvSpPr/>
          <p:nvPr/>
        </p:nvSpPr>
        <p:spPr>
          <a:xfrm>
            <a:off x="12278700" y="3994500"/>
            <a:ext cx="420000" cy="4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12838700" y="3974500"/>
            <a:ext cx="4420600" cy="108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Evento de ônibus no ponto Caio Prado; </a:t>
            </a:r>
            <a:r>
              <a:rPr sz="1900" b="1">
                <a:solidFill>
                  <a:srgbClr val="C0408F"/>
                </a:solidFill>
                <a:latin typeface="Montserrat"/>
              </a:rPr>
              <a:t>no vídeo, injetado para a gravação.</a:t>
            </a:r>
          </a:p>
        </p:txBody>
      </p:sp>
      <p:sp>
        <p:nvSpPr>
          <p:cNvPr id="17" name="Forma disco"/>
          <p:cNvSpPr/>
          <p:nvPr/>
        </p:nvSpPr>
        <p:spPr>
          <a:xfrm>
            <a:off x="12278700" y="5119500"/>
            <a:ext cx="420000" cy="4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12838700" y="5099500"/>
            <a:ext cx="4420600" cy="108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virtual-ms-java detecta a área e publica o gatilho.</a:t>
            </a:r>
          </a:p>
        </p:txBody>
      </p:sp>
      <p:sp>
        <p:nvSpPr>
          <p:cNvPr id="19" name="Forma disco"/>
          <p:cNvSpPr/>
          <p:nvPr/>
        </p:nvSpPr>
        <p:spPr>
          <a:xfrm>
            <a:off x="12278700" y="6244500"/>
            <a:ext cx="420000" cy="4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12838700" y="6224500"/>
            <a:ext cx="4420600" cy="108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O LLM planeja a trajetória; o drone voa e fotografa.</a:t>
            </a:r>
          </a:p>
        </p:txBody>
      </p:sp>
      <p:sp>
        <p:nvSpPr>
          <p:cNvPr id="21" name="Forma disco"/>
          <p:cNvSpPr/>
          <p:nvPr/>
        </p:nvSpPr>
        <p:spPr>
          <a:xfrm>
            <a:off x="12278700" y="7369500"/>
            <a:ext cx="420000" cy="420000"/>
          </a:xfrm>
          <a:prstGeom prst="ellipse">
            <a:avLst/>
          </a:prstGeom>
          <a:solidFill>
            <a:srgbClr val="C26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2" name="Texto"/>
          <p:cNvSpPr txBox="1"/>
          <p:nvPr/>
        </p:nvSpPr>
        <p:spPr>
          <a:xfrm>
            <a:off x="12838700" y="7349500"/>
            <a:ext cx="4420600" cy="108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14142B"/>
                </a:solidFill>
                <a:latin typeface="Montserrat"/>
              </a:rPr>
              <a:t>Cada passo volta ao Event Hub.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O Grafana observa todo o fluxo de eventos.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3 · CENÁRIO 4 · OBSERVABILIDADE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17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1028700" y="8681792"/>
            <a:ext cx="162306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3D3A5C"/>
                </a:solidFill>
                <a:latin typeface="Consolas"/>
              </a:rPr>
              <a:t>Grafana lê as projeções (read path) em tempo real · vídeo de 30 s com legendas por etapa</a:t>
            </a:r>
          </a:p>
        </p:txBody>
      </p:sp>
      <p:pic>
        <p:nvPicPr>
          <p:cNvPr id="12" name="Vídeo grafana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644000" y="1832209"/>
            <a:ext cx="13000000" cy="6689583"/>
          </a:xfrm>
          <a:prstGeom prst="roundRect">
            <a:avLst>
              <a:gd name="adj" fmla="val 3500"/>
            </a:avLst>
          </a:prstGeom>
          <a:ln w="25400">
            <a:solidFill>
              <a:srgbClr val="C6BDEF"/>
            </a:solidFill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PARTE 04 DE 04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18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1028700" y="1900000"/>
            <a:ext cx="2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PARTE 04</a:t>
            </a:r>
          </a:p>
        </p:txBody>
      </p:sp>
      <p:sp>
        <p:nvSpPr>
          <p:cNvPr id="11" name="Progresso"/>
          <p:cNvSpPr/>
          <p:nvPr/>
        </p:nvSpPr>
        <p:spPr>
          <a:xfrm>
            <a:off x="29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gresso"/>
          <p:cNvSpPr/>
          <p:nvPr/>
        </p:nvSpPr>
        <p:spPr>
          <a:xfrm>
            <a:off x="39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gresso"/>
          <p:cNvSpPr/>
          <p:nvPr/>
        </p:nvSpPr>
        <p:spPr>
          <a:xfrm>
            <a:off x="502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B9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gresso"/>
          <p:cNvSpPr/>
          <p:nvPr/>
        </p:nvSpPr>
        <p:spPr>
          <a:xfrm>
            <a:off x="6078700" y="2030000"/>
            <a:ext cx="95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o"/>
          <p:cNvSpPr txBox="1"/>
          <p:nvPr/>
        </p:nvSpPr>
        <p:spPr>
          <a:xfrm>
            <a:off x="7248700" y="1900000"/>
            <a:ext cx="1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546E"/>
                </a:solidFill>
                <a:latin typeface="Consolas"/>
              </a:rPr>
              <a:t>DE 04</a:t>
            </a:r>
          </a:p>
        </p:txBody>
      </p:sp>
      <p:sp>
        <p:nvSpPr>
          <p:cNvPr id="16" name="Numeral decorativo"/>
          <p:cNvSpPr txBox="1"/>
          <p:nvPr/>
        </p:nvSpPr>
        <p:spPr>
          <a:xfrm>
            <a:off x="878700" y="2730000"/>
            <a:ext cx="8000000" cy="5900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0" b="1">
                <a:solidFill>
                  <a:srgbClr val="E1DAF6"/>
                </a:solidFill>
                <a:latin typeface="Montserrat"/>
              </a:rPr>
              <a:t>04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8900000" y="4953064"/>
            <a:ext cx="835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PRÓXIMA SEÇÃO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8900000" y="5433064"/>
            <a:ext cx="8350000" cy="853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0" b="1">
                <a:solidFill>
                  <a:srgbClr val="14142B"/>
                </a:solidFill>
                <a:latin typeface="Montserrat"/>
              </a:rPr>
              <a:t>Contribuições e limites</a:t>
            </a:r>
          </a:p>
        </p:txBody>
      </p:sp>
      <p:sp>
        <p:nvSpPr>
          <p:cNvPr id="19" name="Acento"/>
          <p:cNvSpPr/>
          <p:nvPr/>
        </p:nvSpPr>
        <p:spPr>
          <a:xfrm>
            <a:off x="8900000" y="6566936"/>
            <a:ext cx="1100000" cy="7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Contribuições, cada uma com onde observar.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4 · CONTRIBUIÇÕES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19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028700" y="2252000"/>
            <a:ext cx="7935300" cy="2650000"/>
          </a:xfrm>
          <a:prstGeom prst="roundRect">
            <a:avLst>
              <a:gd name="adj" fmla="val 8626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028700" y="2312000"/>
            <a:ext cx="7935300" cy="2590000"/>
          </a:xfrm>
          <a:prstGeom prst="roundRect">
            <a:avLst>
              <a:gd name="adj" fmla="val 8826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1478700" y="2582000"/>
            <a:ext cx="70353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85BC7"/>
                </a:solidFill>
                <a:latin typeface="Consolas"/>
              </a:rPr>
              <a:t>01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478700" y="3002000"/>
            <a:ext cx="703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Arquitetura event-driven aberta</a:t>
            </a:r>
          </a:p>
        </p:txBody>
      </p:sp>
      <p:sp>
        <p:nvSpPr>
          <p:cNvPr id="15" name="Texto"/>
          <p:cNvSpPr txBox="1"/>
          <p:nvPr/>
        </p:nvSpPr>
        <p:spPr>
          <a:xfrm>
            <a:off x="1478700" y="3582000"/>
            <a:ext cx="70353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Encadeia LVC: um evento de ônibus aciona, via gêmeo, a missão do drone.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1478700" y="4382000"/>
            <a:ext cx="703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685BC7"/>
                </a:solidFill>
                <a:latin typeface="Consolas"/>
              </a:rPr>
              <a:t>onde observar · cenário 3 · slide 16</a:t>
            </a:r>
          </a:p>
        </p:txBody>
      </p:sp>
      <p:sp>
        <p:nvSpPr>
          <p:cNvPr id="17" name="Forma card borda"/>
          <p:cNvSpPr/>
          <p:nvPr/>
        </p:nvSpPr>
        <p:spPr>
          <a:xfrm>
            <a:off x="9324000" y="2252000"/>
            <a:ext cx="7935300" cy="2650000"/>
          </a:xfrm>
          <a:prstGeom prst="roundRect">
            <a:avLst>
              <a:gd name="adj" fmla="val 8626"/>
            </a:avLst>
          </a:prstGeom>
          <a:solidFill>
            <a:srgbClr val="C2660B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rma card"/>
          <p:cNvSpPr/>
          <p:nvPr/>
        </p:nvSpPr>
        <p:spPr>
          <a:xfrm>
            <a:off x="9324000" y="2312000"/>
            <a:ext cx="7935300" cy="2590000"/>
          </a:xfrm>
          <a:prstGeom prst="roundRect">
            <a:avLst>
              <a:gd name="adj" fmla="val 8826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o"/>
          <p:cNvSpPr txBox="1"/>
          <p:nvPr/>
        </p:nvSpPr>
        <p:spPr>
          <a:xfrm>
            <a:off x="9774000" y="2582000"/>
            <a:ext cx="70353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2660B"/>
                </a:solidFill>
                <a:latin typeface="Consolas"/>
              </a:rPr>
              <a:t>02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9774000" y="3002000"/>
            <a:ext cx="703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proto-shared: um contrato único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9774000" y="3582000"/>
            <a:ext cx="70353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Um .proto gera os stubs de Java, Python e Rust.</a:t>
            </a:r>
          </a:p>
        </p:txBody>
      </p:sp>
      <p:sp>
        <p:nvSpPr>
          <p:cNvPr id="22" name="Texto"/>
          <p:cNvSpPr txBox="1"/>
          <p:nvPr/>
        </p:nvSpPr>
        <p:spPr>
          <a:xfrm>
            <a:off x="9774000" y="4382000"/>
            <a:ext cx="703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2660B"/>
                </a:solidFill>
                <a:latin typeface="Consolas"/>
              </a:rPr>
              <a:t>onde observar · proto-shared</a:t>
            </a:r>
          </a:p>
        </p:txBody>
      </p:sp>
      <p:sp>
        <p:nvSpPr>
          <p:cNvPr id="23" name="Forma card borda"/>
          <p:cNvSpPr/>
          <p:nvPr/>
        </p:nvSpPr>
        <p:spPr>
          <a:xfrm>
            <a:off x="1028700" y="5262000"/>
            <a:ext cx="7935300" cy="2650000"/>
          </a:xfrm>
          <a:prstGeom prst="roundRect">
            <a:avLst>
              <a:gd name="adj" fmla="val 8626"/>
            </a:avLst>
          </a:prstGeom>
          <a:solidFill>
            <a:srgbClr val="0F8B94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orma card"/>
          <p:cNvSpPr/>
          <p:nvPr/>
        </p:nvSpPr>
        <p:spPr>
          <a:xfrm>
            <a:off x="1028700" y="5322000"/>
            <a:ext cx="7935300" cy="2590000"/>
          </a:xfrm>
          <a:prstGeom prst="roundRect">
            <a:avLst>
              <a:gd name="adj" fmla="val 8826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o"/>
          <p:cNvSpPr txBox="1"/>
          <p:nvPr/>
        </p:nvSpPr>
        <p:spPr>
          <a:xfrm>
            <a:off x="1478700" y="5592000"/>
            <a:ext cx="70353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8B94"/>
                </a:solidFill>
                <a:latin typeface="Consolas"/>
              </a:rPr>
              <a:t>03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1478700" y="6012000"/>
            <a:ext cx="703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Três fontes Live reais</a:t>
            </a:r>
          </a:p>
        </p:txBody>
      </p:sp>
      <p:sp>
        <p:nvSpPr>
          <p:cNvPr id="27" name="Texto"/>
          <p:cNvSpPr txBox="1"/>
          <p:nvPr/>
        </p:nvSpPr>
        <p:spPr>
          <a:xfrm>
            <a:off x="1478700" y="6592000"/>
            <a:ext cx="70353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AIS, SPTrans OlhoVivo e CGESP; os eventos ficam no log do Event Hub.</a:t>
            </a:r>
          </a:p>
        </p:txBody>
      </p:sp>
      <p:sp>
        <p:nvSpPr>
          <p:cNvPr id="28" name="Texto"/>
          <p:cNvSpPr txBox="1"/>
          <p:nvPr/>
        </p:nvSpPr>
        <p:spPr>
          <a:xfrm>
            <a:off x="1478700" y="7392000"/>
            <a:ext cx="703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8B94"/>
                </a:solidFill>
                <a:latin typeface="Consolas"/>
              </a:rPr>
              <a:t>onde observar · Event Log · slide 15</a:t>
            </a:r>
          </a:p>
        </p:txBody>
      </p:sp>
      <p:sp>
        <p:nvSpPr>
          <p:cNvPr id="29" name="Forma card borda"/>
          <p:cNvSpPr/>
          <p:nvPr/>
        </p:nvSpPr>
        <p:spPr>
          <a:xfrm>
            <a:off x="9324000" y="5262000"/>
            <a:ext cx="7935300" cy="2650000"/>
          </a:xfrm>
          <a:prstGeom prst="roundRect">
            <a:avLst>
              <a:gd name="adj" fmla="val 8626"/>
            </a:avLst>
          </a:prstGeom>
          <a:solidFill>
            <a:srgbClr val="C0408F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orma card"/>
          <p:cNvSpPr/>
          <p:nvPr/>
        </p:nvSpPr>
        <p:spPr>
          <a:xfrm>
            <a:off x="9324000" y="5322000"/>
            <a:ext cx="7935300" cy="2590000"/>
          </a:xfrm>
          <a:prstGeom prst="roundRect">
            <a:avLst>
              <a:gd name="adj" fmla="val 8826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o"/>
          <p:cNvSpPr txBox="1"/>
          <p:nvPr/>
        </p:nvSpPr>
        <p:spPr>
          <a:xfrm>
            <a:off x="9774000" y="5592000"/>
            <a:ext cx="70353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408F"/>
                </a:solidFill>
                <a:latin typeface="Consolas"/>
              </a:rPr>
              <a:t>04</a:t>
            </a:r>
          </a:p>
        </p:txBody>
      </p:sp>
      <p:sp>
        <p:nvSpPr>
          <p:cNvPr id="32" name="Texto"/>
          <p:cNvSpPr txBox="1"/>
          <p:nvPr/>
        </p:nvSpPr>
        <p:spPr>
          <a:xfrm>
            <a:off x="9774000" y="6012000"/>
            <a:ext cx="70353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4142B"/>
                </a:solidFill>
                <a:latin typeface="Montserrat"/>
              </a:rPr>
              <a:t>Quatro cenários ponta a ponta</a:t>
            </a:r>
          </a:p>
        </p:txBody>
      </p:sp>
      <p:sp>
        <p:nvSpPr>
          <p:cNvPr id="33" name="Texto"/>
          <p:cNvSpPr txBox="1"/>
          <p:nvPr/>
        </p:nvSpPr>
        <p:spPr>
          <a:xfrm>
            <a:off x="9774000" y="6592000"/>
            <a:ext cx="70353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>
                <a:solidFill>
                  <a:srgbClr val="2C2C45"/>
                </a:solidFill>
                <a:latin typeface="Montserrat"/>
              </a:rPr>
              <a:t>Áreas, check-in Live, missão do drone e observabilidade; sobe com docker compose up.</a:t>
            </a:r>
          </a:p>
        </p:txBody>
      </p:sp>
      <p:sp>
        <p:nvSpPr>
          <p:cNvPr id="34" name="Texto"/>
          <p:cNvSpPr txBox="1"/>
          <p:nvPr/>
        </p:nvSpPr>
        <p:spPr>
          <a:xfrm>
            <a:off x="9774000" y="7392000"/>
            <a:ext cx="70353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408F"/>
                </a:solidFill>
                <a:latin typeface="Consolas"/>
              </a:rPr>
              <a:t>onde observar · infra-local-shared</a:t>
            </a:r>
          </a:p>
        </p:txBody>
      </p:sp>
      <p:sp>
        <p:nvSpPr>
          <p:cNvPr id="35" name="Texto"/>
          <p:cNvSpPr txBox="1"/>
          <p:nvPr/>
        </p:nvSpPr>
        <p:spPr>
          <a:xfrm>
            <a:off x="1028700" y="8212000"/>
            <a:ext cx="162306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C0408F"/>
                </a:solidFill>
                <a:latin typeface="Montserrat"/>
              </a:rPr>
              <a:t>Verificação funcional: latência e escala ficam para trabalho futuro.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Limites: máquina única, sem validação estatística.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4 · LIMITES &amp; PRÓXIMOS PASSOS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20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028700" y="4007000"/>
            <a:ext cx="7935300" cy="2900000"/>
          </a:xfrm>
          <a:prstGeom prst="roundRect">
            <a:avLst>
              <a:gd name="adj" fmla="val 7882"/>
            </a:avLst>
          </a:prstGeom>
          <a:solidFill>
            <a:srgbClr val="C0408F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028700" y="4067000"/>
            <a:ext cx="7935300" cy="2840000"/>
          </a:xfrm>
          <a:prstGeom prst="roundRect">
            <a:avLst>
              <a:gd name="adj" fmla="val 8049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1508700" y="4427000"/>
            <a:ext cx="69753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408F"/>
                </a:solidFill>
                <a:latin typeface="Consolas"/>
              </a:rPr>
              <a:t>LIMITAÇÕES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508700" y="4957000"/>
            <a:ext cx="69753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spcAft>
                <a:spcPts val="1400"/>
              </a:spcAft>
              <a:buClr>
                <a:srgbClr val="685BC7"/>
              </a:buClr>
              <a:buFont typeface="Arial"/>
              <a:buChar char="•"/>
            </a:pPr>
            <a:r>
              <a:rPr sz="2100">
                <a:solidFill>
                  <a:srgbClr val="2C2C45"/>
                </a:solidFill>
                <a:latin typeface="Montserrat"/>
              </a:rPr>
              <a:t>Sem validação </a:t>
            </a:r>
            <a:r>
              <a:rPr sz="2100" b="1">
                <a:solidFill>
                  <a:srgbClr val="14142B"/>
                </a:solidFill>
                <a:latin typeface="Montserrat"/>
              </a:rPr>
              <a:t>estatística</a:t>
            </a:r>
            <a:r>
              <a:rPr sz="2100">
                <a:solidFill>
                  <a:srgbClr val="2C2C45"/>
                </a:solidFill>
                <a:latin typeface="Montserrat"/>
              </a:rPr>
              <a:t> Live vs. V/C.</a:t>
            </a:r>
          </a:p>
          <a:p>
            <a:pPr algn="l" marL="342900" indent="-342900">
              <a:spcAft>
                <a:spcPts val="1400"/>
              </a:spcAft>
              <a:buClr>
                <a:srgbClr val="685BC7"/>
              </a:buClr>
              <a:buFont typeface="Arial"/>
              <a:buChar char="•"/>
            </a:pPr>
            <a:r>
              <a:rPr sz="2100">
                <a:solidFill>
                  <a:srgbClr val="2C2C45"/>
                </a:solidFill>
                <a:latin typeface="Montserrat"/>
              </a:rPr>
              <a:t>Sem teste de </a:t>
            </a:r>
            <a:r>
              <a:rPr sz="2100" b="1">
                <a:solidFill>
                  <a:srgbClr val="14142B"/>
                </a:solidFill>
                <a:latin typeface="Montserrat"/>
              </a:rPr>
              <a:t>escala horizontal</a:t>
            </a:r>
            <a:r>
              <a:rPr sz="2100">
                <a:solidFill>
                  <a:srgbClr val="2C2C45"/>
                </a:solidFill>
                <a:latin typeface="Montserrat"/>
              </a:rPr>
              <a:t>: máquina única.</a:t>
            </a:r>
          </a:p>
        </p:txBody>
      </p:sp>
      <p:sp>
        <p:nvSpPr>
          <p:cNvPr id="15" name="Forma card borda"/>
          <p:cNvSpPr/>
          <p:nvPr/>
        </p:nvSpPr>
        <p:spPr>
          <a:xfrm>
            <a:off x="9324000" y="4007000"/>
            <a:ext cx="7935300" cy="2900000"/>
          </a:xfrm>
          <a:prstGeom prst="roundRect">
            <a:avLst>
              <a:gd name="adj" fmla="val 7882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orma card"/>
          <p:cNvSpPr/>
          <p:nvPr/>
        </p:nvSpPr>
        <p:spPr>
          <a:xfrm>
            <a:off x="9324000" y="4067000"/>
            <a:ext cx="7935300" cy="2840000"/>
          </a:xfrm>
          <a:prstGeom prst="roundRect">
            <a:avLst>
              <a:gd name="adj" fmla="val 8049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9804000" y="4427000"/>
            <a:ext cx="69753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85BC7"/>
                </a:solidFill>
                <a:latin typeface="Consolas"/>
              </a:rPr>
              <a:t>PRÓXIMOS PASSOS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9804000" y="4957000"/>
            <a:ext cx="69753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spcAft>
                <a:spcPts val="1400"/>
              </a:spcAft>
              <a:buClr>
                <a:srgbClr val="685BC7"/>
              </a:buClr>
              <a:buFont typeface="Arial"/>
              <a:buChar char="•"/>
            </a:pPr>
            <a:r>
              <a:rPr sz="2100">
                <a:solidFill>
                  <a:srgbClr val="2C2C45"/>
                </a:solidFill>
                <a:latin typeface="Montserrat"/>
              </a:rPr>
              <a:t>Fidelidade do gêmeo (Live vs. V/C).</a:t>
            </a:r>
          </a:p>
          <a:p>
            <a:pPr algn="l" marL="342900" indent="-342900">
              <a:spcAft>
                <a:spcPts val="1400"/>
              </a:spcAft>
              <a:buClr>
                <a:srgbClr val="685BC7"/>
              </a:buClr>
              <a:buFont typeface="Arial"/>
              <a:buChar char="•"/>
            </a:pPr>
            <a:r>
              <a:rPr sz="2100">
                <a:solidFill>
                  <a:srgbClr val="2C2C45"/>
                </a:solidFill>
                <a:latin typeface="Montserrat"/>
              </a:rPr>
              <a:t>Carga, latência e escala horizontal.</a:t>
            </a:r>
          </a:p>
          <a:p>
            <a:pPr algn="l" marL="342900" indent="-342900">
              <a:spcAft>
                <a:spcPts val="1400"/>
              </a:spcAft>
              <a:buClr>
                <a:srgbClr val="685BC7"/>
              </a:buClr>
              <a:buFont typeface="Arial"/>
              <a:buChar char="•"/>
            </a:pPr>
            <a:r>
              <a:rPr sz="2100">
                <a:solidFill>
                  <a:srgbClr val="2C2C45"/>
                </a:solidFill>
                <a:latin typeface="Montserrat"/>
              </a:rPr>
              <a:t>Novos adaptadores Live e planejadores.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3">
    <p:bg>
      <p:bgPr>
        <a:solidFill>
          <a:srgbClr val="F5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B6C273-D26C-AC7C-A0E1-6252D4B7C1C9}"/>
              </a:ext>
            </a:extLst>
          </p:cNvPr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EDE8C5-A4FC-4AE7-19C3-F7E6864456C1}"/>
                </a:ext>
              </a:extLst>
            </p:cNvPr>
            <p:cNvSpPr/>
            <p:nvPr/>
          </p:nvSpPr>
          <p:spPr>
            <a:xfrm>
              <a:off x="0" y="0"/>
              <a:ext cx="18288000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1696628"/>
                <a:gd name="f5" fmla="*/ f0 1 24384000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842DE1-562C-CC91-D90A-75E7AD2C866E}"/>
                </a:ext>
              </a:extLst>
            </p:cNvPr>
            <p:cNvSpPr/>
            <p:nvPr/>
          </p:nvSpPr>
          <p:spPr>
            <a:xfrm>
              <a:off x="3634877" y="0"/>
              <a:ext cx="12485025" cy="127246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646701"/>
                <a:gd name="f4" fmla="val 1696628"/>
                <a:gd name="f5" fmla="*/ f0 1 16646701"/>
                <a:gd name="f6" fmla="*/ f1 1 169662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6646701"/>
                <a:gd name="f13" fmla="*/ f10 1 169662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6646701" h="169662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3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D5DE98-9025-F1E7-2944-F494A9D60096}"/>
                </a:ext>
              </a:extLst>
            </p:cNvPr>
            <p:cNvSpPr/>
            <p:nvPr/>
          </p:nvSpPr>
          <p:spPr>
            <a:xfrm>
              <a:off x="15586908" y="209004"/>
              <a:ext cx="2185324" cy="85446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913761"/>
                <a:gd name="f4" fmla="val 1139279"/>
                <a:gd name="f5" fmla="*/ f0 1 2913761"/>
                <a:gd name="f6" fmla="*/ f1 1 1139279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913761"/>
                <a:gd name="f13" fmla="*/ f10 1 1139279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913761" h="1139279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4A8711-080D-0005-ACA5-8A47C4A7376C}"/>
                </a:ext>
              </a:extLst>
            </p:cNvPr>
            <p:cNvSpPr/>
            <p:nvPr/>
          </p:nvSpPr>
          <p:spPr>
            <a:xfrm>
              <a:off x="0" y="9645347"/>
              <a:ext cx="18288000" cy="64165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4384000"/>
                <a:gd name="f4" fmla="val 855532"/>
                <a:gd name="f5" fmla="*/ f0 1 24384000"/>
                <a:gd name="f6" fmla="*/ f1 1 8555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4384000"/>
                <a:gd name="f13" fmla="*/ f10 1 8555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4384000" h="8555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5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50999E-FA66-9230-1C87-D85838C9A194}"/>
                </a:ext>
              </a:extLst>
            </p:cNvPr>
            <p:cNvSpPr/>
            <p:nvPr/>
          </p:nvSpPr>
          <p:spPr>
            <a:xfrm>
              <a:off x="2706669" y="9745099"/>
              <a:ext cx="1009863" cy="44214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346484"/>
                <a:gd name="f4" fmla="val 589533"/>
                <a:gd name="f5" fmla="*/ f0 1 1346484"/>
                <a:gd name="f6" fmla="*/ f1 1 589533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346484"/>
                <a:gd name="f13" fmla="*/ f10 1 589533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346484" h="589533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6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941171-107E-BCF6-1C74-390E3E93B3E1}"/>
                </a:ext>
              </a:extLst>
            </p:cNvPr>
            <p:cNvSpPr/>
            <p:nvPr/>
          </p:nvSpPr>
          <p:spPr>
            <a:xfrm>
              <a:off x="525194" y="9717045"/>
              <a:ext cx="2406389" cy="49825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08522"/>
                <a:gd name="f4" fmla="val 664344"/>
                <a:gd name="f5" fmla="*/ f0 1 3208522"/>
                <a:gd name="f6" fmla="*/ f1 1 66434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08522"/>
                <a:gd name="f13" fmla="*/ f10 1 66434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08522" h="66434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7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2C638BA-649E-4656-7F78-4647855D84C0}"/>
              </a:ext>
            </a:extLst>
          </p:cNvPr>
          <p:cNvSpPr txBox="1"/>
          <p:nvPr/>
        </p:nvSpPr>
        <p:spPr>
          <a:xfrm>
            <a:off x="1028700" y="402555"/>
            <a:ext cx="14000000" cy="6572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 Medium"/>
                <a:ea typeface="Montserrat Medium"/>
                <a:cs typeface="Montserrat Medium"/>
              </a:rPr>
              <a:t>Prazer, Rafael</a:t>
            </a:r>
            <a:endParaRPr lang="en-US" sz="4399" b="1" i="0" u="none" strike="noStrike" kern="1200" cap="none" spc="0" baseline="0" dirty="0">
              <a:solidFill>
                <a:srgbClr val="FFFFFF"/>
              </a:solidFill>
              <a:uFillTx/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" name="Texto rodapé"/>
          <p:cNvSpPr txBox="1"/>
          <p:nvPr/>
        </p:nvSpPr>
        <p:spPr>
          <a:xfrm>
            <a:off x="7300000" y="9820000"/>
            <a:ext cx="996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D8D4EE"/>
                </a:solidFill>
                <a:latin typeface="Consolas"/>
              </a:rPr>
              <a:t>SOBRE O AUTOR</a:t>
            </a:r>
            <a:r>
              <a:rPr sz="1500" b="1">
                <a:solidFill>
                  <a:srgbClr val="FFFFFF"/>
                </a:solidFill>
                <a:latin typeface="Consolas"/>
              </a:rPr>
              <a:t>  ·  02</a:t>
            </a:r>
          </a:p>
        </p:txBody>
      </p:sp>
      <p:sp>
        <p:nvSpPr>
          <p:cNvPr id="11" name="Forma card borda"/>
          <p:cNvSpPr/>
          <p:nvPr/>
        </p:nvSpPr>
        <p:spPr>
          <a:xfrm>
            <a:off x="1900000" y="2600000"/>
            <a:ext cx="14488000" cy="5800000"/>
          </a:xfrm>
          <a:prstGeom prst="roundRect">
            <a:avLst>
              <a:gd name="adj" fmla="val 3941"/>
            </a:avLst>
          </a:prstGeom>
          <a:solidFill>
            <a:srgbClr val="685BC7"/>
          </a:solidFill>
          <a:ln>
            <a:noFill/>
          </a:ln>
          <a:effectLst>
            <a:outerShdw blurRad="213360" dist="66675" dir="5400000" algn="t" rotWithShape="0">
              <a:srgbClr val="1414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a card"/>
          <p:cNvSpPr/>
          <p:nvPr/>
        </p:nvSpPr>
        <p:spPr>
          <a:xfrm>
            <a:off x="1900000" y="2676000"/>
            <a:ext cx="14488000" cy="57240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4287">
            <a:solidFill>
              <a:srgbClr val="B4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rma sombra foto"/>
          <p:cNvSpPr/>
          <p:nvPr/>
        </p:nvSpPr>
        <p:spPr>
          <a:xfrm>
            <a:off x="2500000" y="3738000"/>
            <a:ext cx="2880000" cy="3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1450" dist="57150" dir="5400000" algn="t" rotWithShape="0">
              <a:srgbClr val="1414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magem foto apresentador" descr="avatar_r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000" y="3738000"/>
            <a:ext cx="2880000" cy="3600000"/>
          </a:xfrm>
          <a:prstGeom prst="rect">
            <a:avLst/>
          </a:prstGeom>
        </p:spPr>
      </p:pic>
      <p:sp>
        <p:nvSpPr>
          <p:cNvPr id="15" name="Texto"/>
          <p:cNvSpPr txBox="1"/>
          <p:nvPr/>
        </p:nvSpPr>
        <p:spPr>
          <a:xfrm>
            <a:off x="6100000" y="4630000"/>
            <a:ext cx="6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>
                <a:solidFill>
                  <a:srgbClr val="14142B"/>
                </a:solidFill>
                <a:latin typeface="Montserrat"/>
              </a:rPr>
              <a:t>Rafael Rodrigues Pereira</a:t>
            </a:r>
          </a:p>
        </p:txBody>
      </p:sp>
      <p:sp>
        <p:nvSpPr>
          <p:cNvPr id="16" name="Acento"/>
          <p:cNvSpPr/>
          <p:nvPr/>
        </p:nvSpPr>
        <p:spPr>
          <a:xfrm>
            <a:off x="6100000" y="5480000"/>
            <a:ext cx="900000" cy="6000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o"/>
          <p:cNvSpPr txBox="1"/>
          <p:nvPr/>
        </p:nvSpPr>
        <p:spPr>
          <a:xfrm>
            <a:off x="6100000" y="5730000"/>
            <a:ext cx="6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>
                <a:solidFill>
                  <a:srgbClr val="2C2C45"/>
                </a:solidFill>
                <a:latin typeface="Montserrat"/>
              </a:rPr>
              <a:t>Engenheiro de Software</a:t>
            </a:r>
          </a:p>
          <a:p>
            <a:pPr algn="l"/>
            <a:r>
              <a:rPr sz="2400">
                <a:solidFill>
                  <a:srgbClr val="2C2C45"/>
                </a:solidFill>
                <a:latin typeface="Montserrat"/>
              </a:rPr>
              <a:t>Getnet (Pix / Open Finance)</a:t>
            </a:r>
          </a:p>
        </p:txBody>
      </p:sp>
      <p:sp>
        <p:nvSpPr>
          <p:cNvPr id="18" name="Forma QR"/>
          <p:cNvSpPr/>
          <p:nvPr/>
        </p:nvSpPr>
        <p:spPr>
          <a:xfrm>
            <a:off x="12800000" y="3773000"/>
            <a:ext cx="2900000" cy="2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685BC7"/>
            </a:solidFill>
          </a:ln>
          <a:effectLst>
            <a:outerShdw blurRad="228600" dist="71437" dir="5400000" algn="t" rotWithShape="0">
              <a:srgbClr val="1414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m QR LinkedIn" descr="qr_linked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2000" y="4005000"/>
            <a:ext cx="2436000" cy="2436000"/>
          </a:xfrm>
          <a:prstGeom prst="rect">
            <a:avLst/>
          </a:prstGeom>
        </p:spPr>
      </p:pic>
      <p:sp>
        <p:nvSpPr>
          <p:cNvPr id="20" name="Pílula QR"/>
          <p:cNvSpPr/>
          <p:nvPr/>
        </p:nvSpPr>
        <p:spPr>
          <a:xfrm>
            <a:off x="13464701" y="6873000"/>
            <a:ext cx="1570599" cy="430000"/>
          </a:xfrm>
          <a:prstGeom prst="roundRect">
            <a:avLst>
              <a:gd name="adj" fmla="val 50000"/>
            </a:avLst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Calibri</vt:lpstr>
      <vt:lpstr>Montserrat</vt:lpstr>
      <vt:lpstr>Montserrat Bold</vt:lpstr>
      <vt:lpstr>Montserrat Bold Italics</vt:lpstr>
      <vt:lpstr>Montserrat Italics</vt:lpstr>
      <vt:lpstr>Montserrat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T029688</dc:creator>
  <cp:lastModifiedBy>Patricia Rodrigues</cp:lastModifiedBy>
  <cp:revision>1</cp:revision>
  <dcterms:created xsi:type="dcterms:W3CDTF">2006-08-16T00:00:00Z</dcterms:created>
  <dcterms:modified xsi:type="dcterms:W3CDTF">2026-09-18T17:04:18Z</dcterms:modified>
</cp:coreProperties>
</file>